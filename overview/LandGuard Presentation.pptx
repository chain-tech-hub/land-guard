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10287000" cx="18288000"/>
  <p:notesSz cx="6858000" cy="9144000"/>
  <p:embeddedFontLst>
    <p:embeddedFont>
      <p:font typeface="League Spartan"/>
      <p:regular r:id="rId20"/>
      <p:bold r:id="rId21"/>
    </p:embeddedFont>
    <p:embeddedFont>
      <p:font typeface="Roboto"/>
      <p:regular r:id="rId22"/>
      <p:bold r:id="rId23"/>
      <p:italic r:id="rId24"/>
      <p:boldItalic r:id="rId25"/>
    </p:embeddedFont>
    <p:embeddedFont>
      <p:font typeface="Poppins"/>
      <p:regular r:id="rId26"/>
      <p:bold r:id="rId27"/>
      <p:italic r:id="rId28"/>
      <p:boldItalic r:id="rId29"/>
    </p:embeddedFont>
    <p:embeddedFont>
      <p:font typeface="Tahoma"/>
      <p:regular r:id="rId30"/>
      <p:bold r:id="rId31"/>
    </p:embeddedFont>
    <p:embeddedFont>
      <p:font typeface="Arial Black"/>
      <p:regular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3" roundtripDataSignature="AMtx7mj3ee+YP0iAXBwV9kpW6qrHfM1AR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4762664-C4F2-48BB-908C-5CB489170B13}">
  <a:tblStyle styleId="{14762664-C4F2-48BB-908C-5CB489170B1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>
          <a:top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bottom>
        </a:tcBdr>
      </a:tcStyle>
    </a:band1H>
    <a:band2H>
      <a:tcTxStyle/>
    </a:band2H>
    <a:band1V>
      <a:tcTxStyle/>
      <a:tcStyle>
        <a:tcBdr>
          <a:lef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1V>
    <a:band2V>
      <a:tcTxStyle/>
      <a:tcStyle>
        <a:tcBdr>
          <a:lef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5"/>
              </a:solidFill>
              <a:prstDash val="solid"/>
              <a:round/>
              <a:headEnd len="sm" w="sm" type="none"/>
              <a:tailEnd len="sm" w="sm" type="none"/>
            </a:ln>
          </a:top>
        </a:tcBdr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5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eagueSpartan-regular.fntdata"/><Relationship Id="rId22" Type="http://schemas.openxmlformats.org/officeDocument/2006/relationships/font" Target="fonts/Roboto-regular.fntdata"/><Relationship Id="rId21" Type="http://schemas.openxmlformats.org/officeDocument/2006/relationships/font" Target="fonts/LeagueSpartan-bold.fntdata"/><Relationship Id="rId24" Type="http://schemas.openxmlformats.org/officeDocument/2006/relationships/font" Target="fonts/Roboto-italic.fntdata"/><Relationship Id="rId23" Type="http://schemas.openxmlformats.org/officeDocument/2006/relationships/font" Target="fonts/Robot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-regular.fntdata"/><Relationship Id="rId25" Type="http://schemas.openxmlformats.org/officeDocument/2006/relationships/font" Target="fonts/Roboto-boldItalic.fntdata"/><Relationship Id="rId28" Type="http://schemas.openxmlformats.org/officeDocument/2006/relationships/font" Target="fonts/Poppins-italic.fntdata"/><Relationship Id="rId27" Type="http://schemas.openxmlformats.org/officeDocument/2006/relationships/font" Target="fonts/Poppins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Tahoma-bold.fntdata"/><Relationship Id="rId30" Type="http://schemas.openxmlformats.org/officeDocument/2006/relationships/font" Target="fonts/Tahoma-regular.fntdata"/><Relationship Id="rId11" Type="http://schemas.openxmlformats.org/officeDocument/2006/relationships/slide" Target="slides/slide5.xml"/><Relationship Id="rId33" Type="http://customschemas.google.com/relationships/presentationmetadata" Target="metadata"/><Relationship Id="rId10" Type="http://schemas.openxmlformats.org/officeDocument/2006/relationships/slide" Target="slides/slide4.xml"/><Relationship Id="rId32" Type="http://schemas.openxmlformats.org/officeDocument/2006/relationships/font" Target="fonts/ArialBlack-regular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2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3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3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3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4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hyperlink" Target="http://www.chaintechhub.com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jpg"/><Relationship Id="rId4" Type="http://schemas.openxmlformats.org/officeDocument/2006/relationships/image" Target="../media/image1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chaintechhub.com/landguard/" TargetMode="External"/><Relationship Id="rId4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11" Type="http://schemas.openxmlformats.org/officeDocument/2006/relationships/image" Target="../media/image4.png"/><Relationship Id="rId10" Type="http://schemas.openxmlformats.org/officeDocument/2006/relationships/image" Target="../media/image14.png"/><Relationship Id="rId9" Type="http://schemas.openxmlformats.org/officeDocument/2006/relationships/image" Target="../media/image11.jpg"/><Relationship Id="rId5" Type="http://schemas.openxmlformats.org/officeDocument/2006/relationships/image" Target="../media/image9.png"/><Relationship Id="rId6" Type="http://schemas.openxmlformats.org/officeDocument/2006/relationships/image" Target="../media/image1.png"/><Relationship Id="rId7" Type="http://schemas.openxmlformats.org/officeDocument/2006/relationships/image" Target="../media/image6.png"/><Relationship Id="rId8" Type="http://schemas.openxmlformats.org/officeDocument/2006/relationships/image" Target="../media/image10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hyperlink" Target="https://subnets.avax.network/defi-kingdoms/dfk-chain-testnet/rpc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jpg"/><Relationship Id="rId4" Type="http://schemas.openxmlformats.org/officeDocument/2006/relationships/image" Target="../media/image2.png"/><Relationship Id="rId5" Type="http://schemas.openxmlformats.org/officeDocument/2006/relationships/image" Target="../media/image17.jpg"/><Relationship Id="rId6" Type="http://schemas.openxmlformats.org/officeDocument/2006/relationships/image" Target="../media/image23.jpg"/><Relationship Id="rId7" Type="http://schemas.openxmlformats.org/officeDocument/2006/relationships/image" Target="../media/image24.jpg"/><Relationship Id="rId8" Type="http://schemas.openxmlformats.org/officeDocument/2006/relationships/image" Target="../media/image1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1.jpg"/><Relationship Id="rId4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9.png"/><Relationship Id="rId4" Type="http://schemas.openxmlformats.org/officeDocument/2006/relationships/image" Target="../media/image22.png"/><Relationship Id="rId5" Type="http://schemas.openxmlformats.org/officeDocument/2006/relationships/hyperlink" Target="http://chaintechhub.com/landguard" TargetMode="External"/><Relationship Id="rId6" Type="http://schemas.openxmlformats.org/officeDocument/2006/relationships/hyperlink" Target="https://github.com/Chain-Tech-Hub" TargetMode="External"/><Relationship Id="rId7" Type="http://schemas.openxmlformats.org/officeDocument/2006/relationships/image" Target="../media/image2.png"/><Relationship Id="rId8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1771" y="-5443"/>
            <a:ext cx="18287998" cy="10286999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12649200" y="7810500"/>
            <a:ext cx="8159494" cy="4834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27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3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"One Deed At a Time"</a:t>
            </a:r>
            <a:endParaRPr b="0" i="0" sz="3600" u="none" cap="none" strike="noStrike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12643106" y="6579642"/>
            <a:ext cx="6102092" cy="9862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40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Secure Land Ownership </a:t>
            </a:r>
            <a:endParaRPr/>
          </a:p>
          <a:p>
            <a:pPr indent="0" lvl="0" marL="0" marR="0" rtl="0" algn="l">
              <a:lnSpc>
                <a:spcPct val="840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chemeClr val="lt1"/>
                </a:solidFill>
                <a:highlight>
                  <a:srgbClr val="000000"/>
                </a:highlight>
                <a:latin typeface="Calibri"/>
                <a:ea typeface="Calibri"/>
                <a:cs typeface="Calibri"/>
                <a:sym typeface="Calibri"/>
              </a:rPr>
              <a:t>on the Blockchain</a:t>
            </a:r>
            <a:endParaRPr b="1" i="0" sz="4400" u="none" cap="none" strike="noStrike">
              <a:solidFill>
                <a:schemeClr val="lt1"/>
              </a:solidFill>
              <a:highlight>
                <a:srgbClr val="000000"/>
              </a:highlight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7" name="Google Shape;87;p1"/>
          <p:cNvSpPr txBox="1"/>
          <p:nvPr/>
        </p:nvSpPr>
        <p:spPr>
          <a:xfrm>
            <a:off x="457200" y="5372100"/>
            <a:ext cx="8235694" cy="34013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Presented by: </a:t>
            </a: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Chain Tech Hub</a:t>
            </a:r>
            <a:endParaRPr b="0" i="0" sz="40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Africa Blockchain Championship 2025</a:t>
            </a:r>
            <a:br>
              <a:rPr b="0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36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www.chaintechhub.com</a:t>
            </a:r>
            <a:endParaRPr b="0" i="0" sz="3600" u="none" cap="none" strike="noStrike">
              <a:solidFill>
                <a:srgbClr val="2A094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>
    <mc:Choice Requires="p14">
      <p:transition spd="slow" p14:dur="2400">
        <p14:gallery dir="l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2"/>
          <p:cNvGrpSpPr/>
          <p:nvPr/>
        </p:nvGrpSpPr>
        <p:grpSpPr>
          <a:xfrm>
            <a:off x="7355706" y="2520315"/>
            <a:ext cx="3903992" cy="5246370"/>
            <a:chOff x="0" y="0"/>
            <a:chExt cx="3663950" cy="4923790"/>
          </a:xfrm>
        </p:grpSpPr>
        <p:sp>
          <p:nvSpPr>
            <p:cNvPr id="93" name="Google Shape;93;p2"/>
            <p:cNvSpPr/>
            <p:nvPr/>
          </p:nvSpPr>
          <p:spPr>
            <a:xfrm>
              <a:off x="31750" y="31750"/>
              <a:ext cx="3600450" cy="4859020"/>
            </a:xfrm>
            <a:custGeom>
              <a:rect b="b" l="l" r="r" t="t"/>
              <a:pathLst>
                <a:path extrusionOk="0" h="4859020" w="3600450">
                  <a:moveTo>
                    <a:pt x="3600450" y="4499610"/>
                  </a:moveTo>
                  <a:cubicBezTo>
                    <a:pt x="3600450" y="4699000"/>
                    <a:pt x="3439160" y="4859020"/>
                    <a:pt x="3241040" y="4859020"/>
                  </a:cubicBezTo>
                  <a:lnTo>
                    <a:pt x="359410" y="4859020"/>
                  </a:lnTo>
                  <a:cubicBezTo>
                    <a:pt x="160020" y="4859020"/>
                    <a:pt x="0" y="4697730"/>
                    <a:pt x="0" y="4499610"/>
                  </a:cubicBezTo>
                  <a:lnTo>
                    <a:pt x="0" y="359410"/>
                  </a:lnTo>
                  <a:cubicBezTo>
                    <a:pt x="0" y="160020"/>
                    <a:pt x="161290" y="0"/>
                    <a:pt x="359410" y="0"/>
                  </a:cubicBezTo>
                  <a:lnTo>
                    <a:pt x="3239770" y="0"/>
                  </a:lnTo>
                  <a:cubicBezTo>
                    <a:pt x="3439160" y="0"/>
                    <a:pt x="3599180" y="161290"/>
                    <a:pt x="3599180" y="359410"/>
                  </a:cubicBezTo>
                  <a:lnTo>
                    <a:pt x="3600450" y="449961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0" y="0"/>
              <a:ext cx="3663950" cy="4923790"/>
            </a:xfrm>
            <a:custGeom>
              <a:rect b="b" l="l" r="r" t="t"/>
              <a:pathLst>
                <a:path extrusionOk="0" h="4923790" w="3663950">
                  <a:moveTo>
                    <a:pt x="3271520" y="4923790"/>
                  </a:moveTo>
                  <a:lnTo>
                    <a:pt x="391160" y="4923790"/>
                  </a:lnTo>
                  <a:cubicBezTo>
                    <a:pt x="175260" y="4923790"/>
                    <a:pt x="0" y="4748530"/>
                    <a:pt x="0" y="4532630"/>
                  </a:cubicBezTo>
                  <a:lnTo>
                    <a:pt x="0" y="392430"/>
                  </a:lnTo>
                  <a:cubicBezTo>
                    <a:pt x="0" y="175260"/>
                    <a:pt x="175260" y="0"/>
                    <a:pt x="391160" y="0"/>
                  </a:cubicBezTo>
                  <a:lnTo>
                    <a:pt x="3271520" y="0"/>
                  </a:lnTo>
                  <a:cubicBezTo>
                    <a:pt x="3487420" y="0"/>
                    <a:pt x="3662680" y="175260"/>
                    <a:pt x="3662680" y="391160"/>
                  </a:cubicBezTo>
                  <a:lnTo>
                    <a:pt x="3662680" y="4531360"/>
                  </a:lnTo>
                  <a:cubicBezTo>
                    <a:pt x="3663950" y="4747260"/>
                    <a:pt x="3487420" y="4923790"/>
                    <a:pt x="3271520" y="4923790"/>
                  </a:cubicBezTo>
                  <a:close/>
                  <a:moveTo>
                    <a:pt x="391160" y="63500"/>
                  </a:moveTo>
                  <a:cubicBezTo>
                    <a:pt x="210820" y="63500"/>
                    <a:pt x="63500" y="210820"/>
                    <a:pt x="63500" y="391160"/>
                  </a:cubicBezTo>
                  <a:lnTo>
                    <a:pt x="63500" y="4531360"/>
                  </a:lnTo>
                  <a:cubicBezTo>
                    <a:pt x="63500" y="4712970"/>
                    <a:pt x="210820" y="4859020"/>
                    <a:pt x="391160" y="4859020"/>
                  </a:cubicBezTo>
                  <a:lnTo>
                    <a:pt x="3271520" y="4859020"/>
                  </a:lnTo>
                  <a:cubicBezTo>
                    <a:pt x="3453130" y="4859020"/>
                    <a:pt x="3599180" y="4711700"/>
                    <a:pt x="3599180" y="4531360"/>
                  </a:cubicBezTo>
                  <a:lnTo>
                    <a:pt x="3599180" y="391160"/>
                  </a:lnTo>
                  <a:cubicBezTo>
                    <a:pt x="3599180" y="209550"/>
                    <a:pt x="3451860" y="63500"/>
                    <a:pt x="3271520" y="63500"/>
                  </a:cubicBezTo>
                  <a:lnTo>
                    <a:pt x="391160" y="6350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2"/>
          <p:cNvSpPr/>
          <p:nvPr/>
        </p:nvSpPr>
        <p:spPr>
          <a:xfrm>
            <a:off x="11541760" y="-300550"/>
            <a:ext cx="7258734" cy="10888101"/>
          </a:xfrm>
          <a:custGeom>
            <a:rect b="b" l="l" r="r" t="t"/>
            <a:pathLst>
              <a:path extrusionOk="0" h="9525000" w="6350000">
                <a:moveTo>
                  <a:pt x="0" y="9042400"/>
                </a:moveTo>
                <a:lnTo>
                  <a:pt x="0" y="482600"/>
                </a:lnTo>
                <a:cubicBezTo>
                  <a:pt x="0" y="215900"/>
                  <a:pt x="215900" y="0"/>
                  <a:pt x="482600" y="0"/>
                </a:cubicBezTo>
                <a:lnTo>
                  <a:pt x="5867400" y="0"/>
                </a:lnTo>
                <a:cubicBezTo>
                  <a:pt x="6134100" y="0"/>
                  <a:pt x="6350000" y="217170"/>
                  <a:pt x="6350000" y="482600"/>
                </a:cubicBezTo>
                <a:lnTo>
                  <a:pt x="6350000" y="9042400"/>
                </a:lnTo>
                <a:cubicBezTo>
                  <a:pt x="6350000" y="9309100"/>
                  <a:pt x="6134100" y="9525000"/>
                  <a:pt x="5867400" y="9525000"/>
                </a:cubicBezTo>
                <a:lnTo>
                  <a:pt x="482600" y="9525000"/>
                </a:lnTo>
                <a:cubicBezTo>
                  <a:pt x="217170" y="9525000"/>
                  <a:pt x="0" y="9309100"/>
                  <a:pt x="0" y="904240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6" name="Google Shape;96;p2"/>
          <p:cNvGrpSpPr/>
          <p:nvPr/>
        </p:nvGrpSpPr>
        <p:grpSpPr>
          <a:xfrm>
            <a:off x="1028700" y="8690124"/>
            <a:ext cx="3086100" cy="568176"/>
            <a:chOff x="0" y="-47625"/>
            <a:chExt cx="812800" cy="149643"/>
          </a:xfrm>
        </p:grpSpPr>
        <p:sp>
          <p:nvSpPr>
            <p:cNvPr id="97" name="Google Shape;97;p2"/>
            <p:cNvSpPr/>
            <p:nvPr/>
          </p:nvSpPr>
          <p:spPr>
            <a:xfrm>
              <a:off x="0" y="0"/>
              <a:ext cx="812800" cy="102018"/>
            </a:xfrm>
            <a:custGeom>
              <a:rect b="b" l="l" r="r" t="t"/>
              <a:pathLst>
                <a:path extrusionOk="0" h="102018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02018"/>
                  </a:lnTo>
                  <a:lnTo>
                    <a:pt x="0" y="102018"/>
                  </a:lnTo>
                  <a:close/>
                </a:path>
              </a:pathLst>
            </a:custGeom>
            <a:solidFill>
              <a:srgbClr val="EDC254"/>
            </a:solidFill>
            <a:ln>
              <a:noFill/>
            </a:ln>
          </p:spPr>
        </p:sp>
        <p:sp>
          <p:nvSpPr>
            <p:cNvPr id="98" name="Google Shape;98;p2"/>
            <p:cNvSpPr txBox="1"/>
            <p:nvPr/>
          </p:nvSpPr>
          <p:spPr>
            <a:xfrm>
              <a:off x="0" y="-47625"/>
              <a:ext cx="812800" cy="1496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9" name="Google Shape;99;p2"/>
          <p:cNvGrpSpPr/>
          <p:nvPr/>
        </p:nvGrpSpPr>
        <p:grpSpPr>
          <a:xfrm>
            <a:off x="8780652" y="-1159822"/>
            <a:ext cx="1054100" cy="3266926"/>
            <a:chOff x="0" y="-47625"/>
            <a:chExt cx="277623" cy="860425"/>
          </a:xfrm>
        </p:grpSpPr>
        <p:sp>
          <p:nvSpPr>
            <p:cNvPr id="100" name="Google Shape;100;p2"/>
            <p:cNvSpPr/>
            <p:nvPr/>
          </p:nvSpPr>
          <p:spPr>
            <a:xfrm>
              <a:off x="0" y="0"/>
              <a:ext cx="277623" cy="812800"/>
            </a:xfrm>
            <a:custGeom>
              <a:rect b="b" l="l" r="r" t="t"/>
              <a:pathLst>
                <a:path extrusionOk="0" h="812800" w="277623">
                  <a:moveTo>
                    <a:pt x="0" y="0"/>
                  </a:moveTo>
                  <a:lnTo>
                    <a:pt x="277623" y="0"/>
                  </a:lnTo>
                  <a:lnTo>
                    <a:pt x="27762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DC254"/>
            </a:solidFill>
            <a:ln>
              <a:noFill/>
            </a:ln>
          </p:spPr>
        </p:sp>
        <p:sp>
          <p:nvSpPr>
            <p:cNvPr id="101" name="Google Shape;101;p2"/>
            <p:cNvSpPr txBox="1"/>
            <p:nvPr/>
          </p:nvSpPr>
          <p:spPr>
            <a:xfrm>
              <a:off x="0" y="-47625"/>
              <a:ext cx="277623" cy="860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2" name="Google Shape;102;p2"/>
          <p:cNvSpPr txBox="1"/>
          <p:nvPr/>
        </p:nvSpPr>
        <p:spPr>
          <a:xfrm>
            <a:off x="914400" y="1224244"/>
            <a:ext cx="5330825" cy="911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49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Snapshot</a:t>
            </a:r>
            <a:endParaRPr b="0" i="0" sz="11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2"/>
          <p:cNvSpPr txBox="1"/>
          <p:nvPr/>
        </p:nvSpPr>
        <p:spPr>
          <a:xfrm>
            <a:off x="685800" y="2554145"/>
            <a:ext cx="6140100" cy="56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🧱 </a:t>
            </a:r>
            <a:r>
              <a:rPr b="1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70% of land in Malawi is undocumented</a:t>
            </a:r>
            <a:b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🚫 Double-selling/Allocation  &amp; fraud are rampant</a:t>
            </a:r>
            <a:b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⏳ 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Social 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Cohesion (Burkina Faso)</a:t>
            </a:r>
            <a:b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💸 </a:t>
            </a:r>
            <a:r>
              <a:rPr b="0" i="0" lang="en-US" sz="2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$250M+ diaspora remittances risk unsafe investments</a:t>
            </a:r>
            <a:endParaRPr b="0" i="0" sz="3600" u="none" cap="none" strike="noStrike">
              <a:solidFill>
                <a:srgbClr val="2A0947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04" name="Google Shape;104;p2"/>
          <p:cNvGrpSpPr/>
          <p:nvPr/>
        </p:nvGrpSpPr>
        <p:grpSpPr>
          <a:xfrm>
            <a:off x="8780652" y="7995434"/>
            <a:ext cx="1054100" cy="3266926"/>
            <a:chOff x="0" y="-47625"/>
            <a:chExt cx="277623" cy="860425"/>
          </a:xfrm>
        </p:grpSpPr>
        <p:sp>
          <p:nvSpPr>
            <p:cNvPr id="105" name="Google Shape;105;p2"/>
            <p:cNvSpPr/>
            <p:nvPr/>
          </p:nvSpPr>
          <p:spPr>
            <a:xfrm>
              <a:off x="0" y="0"/>
              <a:ext cx="277623" cy="812800"/>
            </a:xfrm>
            <a:custGeom>
              <a:rect b="b" l="l" r="r" t="t"/>
              <a:pathLst>
                <a:path extrusionOk="0" h="812800" w="277623">
                  <a:moveTo>
                    <a:pt x="0" y="0"/>
                  </a:moveTo>
                  <a:lnTo>
                    <a:pt x="277623" y="0"/>
                  </a:lnTo>
                  <a:lnTo>
                    <a:pt x="27762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DC254"/>
            </a:solidFill>
            <a:ln>
              <a:noFill/>
            </a:ln>
          </p:spPr>
        </p:sp>
        <p:sp>
          <p:nvSpPr>
            <p:cNvPr id="106" name="Google Shape;106;p2"/>
            <p:cNvSpPr txBox="1"/>
            <p:nvPr/>
          </p:nvSpPr>
          <p:spPr>
            <a:xfrm>
              <a:off x="0" y="-47625"/>
              <a:ext cx="277623" cy="8604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7" name="Google Shape;107;p2"/>
          <p:cNvSpPr txBox="1"/>
          <p:nvPr/>
        </p:nvSpPr>
        <p:spPr>
          <a:xfrm>
            <a:off x="12243883" y="8527936"/>
            <a:ext cx="5854488" cy="892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00"/>
                </a:solidFill>
                <a:latin typeface="Arial Black"/>
                <a:ea typeface="Arial Black"/>
                <a:cs typeface="Arial Black"/>
                <a:sym typeface="Arial Black"/>
              </a:rPr>
              <a:t>A Story </a:t>
            </a:r>
            <a:r>
              <a:rPr b="1" i="0" lang="en-US" sz="2800" u="none" cap="none" strike="noStrike">
                <a:solidFill>
                  <a:srgbClr val="FFFF00"/>
                </a:solidFill>
                <a:latin typeface="Arial Black"/>
                <a:ea typeface="Arial Black"/>
                <a:cs typeface="Arial Black"/>
                <a:sym typeface="Arial Black"/>
              </a:rPr>
              <a:t>of Loss </a:t>
            </a:r>
            <a:r>
              <a:rPr b="1" i="0" lang="en-US" sz="2400" u="none" cap="none" strike="noStrike">
                <a:solidFill>
                  <a:srgbClr val="FFFF00"/>
                </a:solidFill>
                <a:latin typeface="Arial Black"/>
                <a:ea typeface="Arial Black"/>
                <a:cs typeface="Arial Black"/>
                <a:sym typeface="Arial Black"/>
              </a:rPr>
              <a:t>- Mrs Grace Phiri</a:t>
            </a:r>
            <a:endParaRPr b="1" sz="2400">
              <a:solidFill>
                <a:srgbClr val="FFFF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FFFF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8" name="Google Shape;108;p2"/>
          <p:cNvSpPr txBox="1"/>
          <p:nvPr/>
        </p:nvSpPr>
        <p:spPr>
          <a:xfrm>
            <a:off x="6527952" y="7807649"/>
            <a:ext cx="5013808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2060"/>
                </a:solidFill>
                <a:latin typeface="Arial Black"/>
                <a:ea typeface="Arial Black"/>
                <a:cs typeface="Arial Black"/>
                <a:sym typeface="Arial Black"/>
              </a:rPr>
              <a:t>A Story of Betrayal - Miss R Banda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206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"/>
          <p:cNvSpPr/>
          <p:nvPr/>
        </p:nvSpPr>
        <p:spPr>
          <a:xfrm flipH="1">
            <a:off x="11113225" y="4217825"/>
            <a:ext cx="6804310" cy="5354243"/>
          </a:xfrm>
          <a:custGeom>
            <a:rect b="b" l="l" r="r" t="t"/>
            <a:pathLst>
              <a:path extrusionOk="0" h="6350000" w="11287761">
                <a:moveTo>
                  <a:pt x="11287761" y="5824220"/>
                </a:moveTo>
                <a:lnTo>
                  <a:pt x="11287761" y="525780"/>
                </a:lnTo>
                <a:cubicBezTo>
                  <a:pt x="11287761" y="234950"/>
                  <a:pt x="11052811" y="0"/>
                  <a:pt x="10761981" y="0"/>
                </a:cubicBezTo>
                <a:lnTo>
                  <a:pt x="525780" y="0"/>
                </a:lnTo>
                <a:cubicBezTo>
                  <a:pt x="234950" y="0"/>
                  <a:pt x="0" y="234950"/>
                  <a:pt x="0" y="525780"/>
                </a:cubicBezTo>
                <a:lnTo>
                  <a:pt x="0" y="5822950"/>
                </a:lnTo>
                <a:cubicBezTo>
                  <a:pt x="0" y="6113780"/>
                  <a:pt x="234950" y="6348730"/>
                  <a:pt x="525780" y="6348730"/>
                </a:cubicBezTo>
                <a:lnTo>
                  <a:pt x="10761980" y="6348730"/>
                </a:lnTo>
                <a:cubicBezTo>
                  <a:pt x="11051541" y="6350000"/>
                  <a:pt x="11287761" y="6115050"/>
                  <a:pt x="11287761" y="5824220"/>
                </a:cubicBezTo>
                <a:cubicBezTo>
                  <a:pt x="11287761" y="5824220"/>
                  <a:pt x="11287761" y="5824220"/>
                  <a:pt x="11287761" y="5824220"/>
                </a:cubicBezTo>
                <a:close/>
              </a:path>
            </a:pathLst>
          </a:cu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4" name="Google Shape;114;p3"/>
          <p:cNvGrpSpPr/>
          <p:nvPr/>
        </p:nvGrpSpPr>
        <p:grpSpPr>
          <a:xfrm>
            <a:off x="339985" y="4313018"/>
            <a:ext cx="10080909" cy="5259050"/>
            <a:chOff x="0" y="-47625"/>
            <a:chExt cx="1205821" cy="1194911"/>
          </a:xfrm>
        </p:grpSpPr>
        <p:sp>
          <p:nvSpPr>
            <p:cNvPr id="115" name="Google Shape;115;p3"/>
            <p:cNvSpPr/>
            <p:nvPr/>
          </p:nvSpPr>
          <p:spPr>
            <a:xfrm>
              <a:off x="0" y="0"/>
              <a:ext cx="1205821" cy="1147286"/>
            </a:xfrm>
            <a:custGeom>
              <a:rect b="b" l="l" r="r" t="t"/>
              <a:pathLst>
                <a:path extrusionOk="0" h="1147286" w="1205821">
                  <a:moveTo>
                    <a:pt x="0" y="0"/>
                  </a:moveTo>
                  <a:lnTo>
                    <a:pt x="1205821" y="0"/>
                  </a:lnTo>
                  <a:lnTo>
                    <a:pt x="1205821" y="1147286"/>
                  </a:lnTo>
                  <a:lnTo>
                    <a:pt x="0" y="1147286"/>
                  </a:lnTo>
                  <a:close/>
                </a:path>
              </a:pathLst>
            </a:custGeom>
            <a:solidFill>
              <a:schemeClr val="accent5"/>
            </a:solidFill>
            <a:ln cap="flat" cmpd="sng" w="25400">
              <a:solidFill>
                <a:srgbClr val="1F4853"/>
              </a:solidFill>
              <a:prstDash val="solid"/>
              <a:round/>
              <a:headEnd len="sm" w="sm" type="none"/>
              <a:tailEnd len="sm" w="sm" type="none"/>
            </a:ln>
          </p:spPr>
        </p:sp>
        <p:sp>
          <p:nvSpPr>
            <p:cNvPr id="116" name="Google Shape;116;p3"/>
            <p:cNvSpPr txBox="1"/>
            <p:nvPr/>
          </p:nvSpPr>
          <p:spPr>
            <a:xfrm>
              <a:off x="0" y="-47625"/>
              <a:ext cx="1205821" cy="1194911"/>
            </a:xfrm>
            <a:prstGeom prst="rect">
              <a:avLst/>
            </a:prstGeom>
            <a:solidFill>
              <a:srgbClr val="5F497A"/>
            </a:solidFill>
            <a:ln cap="flat" cmpd="sng" w="25400">
              <a:solidFill>
                <a:srgbClr val="1F485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3"/>
          <p:cNvSpPr txBox="1"/>
          <p:nvPr/>
        </p:nvSpPr>
        <p:spPr>
          <a:xfrm>
            <a:off x="4318390" y="1115425"/>
            <a:ext cx="4572000" cy="894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812">
                <a:solidFill>
                  <a:schemeClr val="dk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SOLUTION</a:t>
            </a:r>
            <a:endParaRPr sz="5812">
              <a:solidFill>
                <a:schemeClr val="dk1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18" name="Google Shape;118;p3"/>
          <p:cNvSpPr txBox="1"/>
          <p:nvPr/>
        </p:nvSpPr>
        <p:spPr>
          <a:xfrm>
            <a:off x="-190560" y="4686300"/>
            <a:ext cx="10080908" cy="41583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5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rgbClr val="FFC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🔗 Blockchain-powered land registry</a:t>
            </a:r>
            <a:endParaRPr b="1" sz="2800">
              <a:solidFill>
                <a:srgbClr val="FFC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45928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2800">
                <a:solidFill>
                  <a:srgbClr val="FFC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2800">
                <a:solidFill>
                  <a:srgbClr val="FFC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📍 GPS-mapped ERC-1155 land NFTs</a:t>
            </a:r>
            <a:endParaRPr b="1" sz="2800">
              <a:solidFill>
                <a:srgbClr val="FFC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4592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rgbClr val="FFC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45928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2800">
                <a:solidFill>
                  <a:srgbClr val="FFC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2800">
                <a:solidFill>
                  <a:srgbClr val="FFC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🛡️ Real-time marketplace with dispute resolution</a:t>
            </a:r>
            <a:endParaRPr b="1" sz="2800">
              <a:solidFill>
                <a:srgbClr val="FFC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45928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b="1" lang="en-US" sz="2800">
                <a:solidFill>
                  <a:srgbClr val="FFC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b="1" lang="en-US" sz="2800">
                <a:solidFill>
                  <a:srgbClr val="FFC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📱 Mobile-friendly + offline sync</a:t>
            </a:r>
            <a:endParaRPr b="1" sz="4000">
              <a:solidFill>
                <a:srgbClr val="FFC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19" name="Google Shape;119;p3"/>
          <p:cNvGrpSpPr/>
          <p:nvPr/>
        </p:nvGrpSpPr>
        <p:grpSpPr>
          <a:xfrm>
            <a:off x="10420911" y="1025344"/>
            <a:ext cx="1165927" cy="895624"/>
            <a:chOff x="0" y="-47625"/>
            <a:chExt cx="307073" cy="235883"/>
          </a:xfrm>
        </p:grpSpPr>
        <p:sp>
          <p:nvSpPr>
            <p:cNvPr id="120" name="Google Shape;120;p3"/>
            <p:cNvSpPr/>
            <p:nvPr/>
          </p:nvSpPr>
          <p:spPr>
            <a:xfrm>
              <a:off x="0" y="0"/>
              <a:ext cx="210726" cy="188258"/>
            </a:xfrm>
            <a:custGeom>
              <a:rect b="b" l="l" r="r" t="t"/>
              <a:pathLst>
                <a:path extrusionOk="0" h="188258" w="210726">
                  <a:moveTo>
                    <a:pt x="0" y="0"/>
                  </a:moveTo>
                  <a:lnTo>
                    <a:pt x="210726" y="0"/>
                  </a:lnTo>
                  <a:lnTo>
                    <a:pt x="210726" y="188258"/>
                  </a:lnTo>
                  <a:lnTo>
                    <a:pt x="0" y="188258"/>
                  </a:lnTo>
                  <a:close/>
                </a:path>
              </a:pathLst>
            </a:custGeom>
            <a:solidFill>
              <a:srgbClr val="EDC254"/>
            </a:solidFill>
            <a:ln>
              <a:noFill/>
            </a:ln>
          </p:spPr>
        </p:sp>
        <p:sp>
          <p:nvSpPr>
            <p:cNvPr id="121" name="Google Shape;121;p3"/>
            <p:cNvSpPr txBox="1"/>
            <p:nvPr/>
          </p:nvSpPr>
          <p:spPr>
            <a:xfrm>
              <a:off x="96473" y="-47625"/>
              <a:ext cx="210600" cy="235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2" name="Google Shape;122;p3"/>
          <p:cNvSpPr txBox="1"/>
          <p:nvPr/>
        </p:nvSpPr>
        <p:spPr>
          <a:xfrm>
            <a:off x="12751505" y="1025495"/>
            <a:ext cx="4229855" cy="895304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47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3"/>
          <p:cNvSpPr txBox="1"/>
          <p:nvPr/>
        </p:nvSpPr>
        <p:spPr>
          <a:xfrm>
            <a:off x="535484" y="2748000"/>
            <a:ext cx="1064586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Impact:</a:t>
            </a:r>
            <a:r>
              <a:rPr lang="en-US" sz="36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Verified. Transparent. Secure land transactions.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24" name="Google Shape;124;p3"/>
          <p:cNvPicPr preferRelativeResize="0"/>
          <p:nvPr/>
        </p:nvPicPr>
        <p:blipFill rotWithShape="1">
          <a:blip r:embed="rId3">
            <a:alphaModFix/>
          </a:blip>
          <a:srcRect b="17852" l="14339" r="13661" t="0"/>
          <a:stretch/>
        </p:blipFill>
        <p:spPr>
          <a:xfrm>
            <a:off x="13213125" y="4217824"/>
            <a:ext cx="3992900" cy="4555689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3"/>
          <p:cNvSpPr/>
          <p:nvPr/>
        </p:nvSpPr>
        <p:spPr>
          <a:xfrm>
            <a:off x="12399165" y="1115697"/>
            <a:ext cx="4232432" cy="714910"/>
          </a:xfrm>
          <a:custGeom>
            <a:rect b="b" l="l" r="r" t="t"/>
            <a:pathLst>
              <a:path extrusionOk="0" h="188258" w="210726">
                <a:moveTo>
                  <a:pt x="0" y="0"/>
                </a:moveTo>
                <a:lnTo>
                  <a:pt x="210726" y="0"/>
                </a:lnTo>
                <a:lnTo>
                  <a:pt x="210726" y="188258"/>
                </a:lnTo>
                <a:lnTo>
                  <a:pt x="0" y="188258"/>
                </a:lnTo>
                <a:close/>
              </a:path>
            </a:pathLst>
          </a:custGeom>
          <a:solidFill>
            <a:srgbClr val="EDC254"/>
          </a:solidFill>
          <a:ln>
            <a:noFill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Google Shape;130;p4"/>
          <p:cNvGrpSpPr/>
          <p:nvPr/>
        </p:nvGrpSpPr>
        <p:grpSpPr>
          <a:xfrm>
            <a:off x="8077200" y="8312179"/>
            <a:ext cx="3086100" cy="625961"/>
            <a:chOff x="0" y="-47625"/>
            <a:chExt cx="812800" cy="164862"/>
          </a:xfrm>
        </p:grpSpPr>
        <p:sp>
          <p:nvSpPr>
            <p:cNvPr id="131" name="Google Shape;131;p4"/>
            <p:cNvSpPr/>
            <p:nvPr/>
          </p:nvSpPr>
          <p:spPr>
            <a:xfrm>
              <a:off x="0" y="0"/>
              <a:ext cx="812800" cy="117237"/>
            </a:xfrm>
            <a:custGeom>
              <a:rect b="b" l="l" r="r" t="t"/>
              <a:pathLst>
                <a:path extrusionOk="0" h="117237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17237"/>
                  </a:lnTo>
                  <a:lnTo>
                    <a:pt x="0" y="117237"/>
                  </a:lnTo>
                  <a:close/>
                </a:path>
              </a:pathLst>
            </a:custGeom>
            <a:solidFill>
              <a:srgbClr val="EDC254"/>
            </a:solidFill>
            <a:ln>
              <a:noFill/>
            </a:ln>
          </p:spPr>
        </p:sp>
        <p:sp>
          <p:nvSpPr>
            <p:cNvPr id="132" name="Google Shape;132;p4"/>
            <p:cNvSpPr txBox="1"/>
            <p:nvPr/>
          </p:nvSpPr>
          <p:spPr>
            <a:xfrm>
              <a:off x="0" y="-47625"/>
              <a:ext cx="812800" cy="1648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3" name="Google Shape;133;p4"/>
          <p:cNvSpPr txBox="1"/>
          <p:nvPr/>
        </p:nvSpPr>
        <p:spPr>
          <a:xfrm>
            <a:off x="396131" y="2400300"/>
            <a:ext cx="5715000" cy="10756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207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How It Works </a:t>
            </a:r>
            <a:endParaRPr/>
          </a:p>
        </p:txBody>
      </p:sp>
      <p:sp>
        <p:nvSpPr>
          <p:cNvPr id="134" name="Google Shape;134;p4"/>
          <p:cNvSpPr txBox="1"/>
          <p:nvPr/>
        </p:nvSpPr>
        <p:spPr>
          <a:xfrm>
            <a:off x="1121021" y="4072485"/>
            <a:ext cx="4491900" cy="566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Land mapped via GPS and verified by local authorities (Land Code)</a:t>
            </a:r>
            <a:endParaRPr/>
          </a:p>
          <a:p>
            <a:pPr indent="-3111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Land NFT minted and stored on blockchain (IPFS and OnChain)</a:t>
            </a:r>
            <a:endParaRPr/>
          </a:p>
          <a:p>
            <a:pPr indent="-2540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sz="3200">
              <a:solidFill>
                <a:srgbClr val="2A094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35" name="Google Shape;135;p4"/>
          <p:cNvSpPr txBox="1"/>
          <p:nvPr/>
        </p:nvSpPr>
        <p:spPr>
          <a:xfrm>
            <a:off x="12830470" y="1639988"/>
            <a:ext cx="4265100" cy="72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Buyer</a:t>
            </a: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accesses verified marketplace and purchases land P2P</a:t>
            </a:r>
            <a:endParaRPr/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Ownership recorded immutably with all metadata linked</a:t>
            </a:r>
            <a:endParaRPr/>
          </a:p>
          <a:p>
            <a:pPr indent="-514350" lvl="0" marL="5143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Real-time updates, alerts, and resolution in case of disputes</a:t>
            </a:r>
            <a:endParaRPr/>
          </a:p>
        </p:txBody>
      </p:sp>
      <p:grpSp>
        <p:nvGrpSpPr>
          <p:cNvPr id="136" name="Google Shape;136;p4"/>
          <p:cNvGrpSpPr/>
          <p:nvPr/>
        </p:nvGrpSpPr>
        <p:grpSpPr>
          <a:xfrm>
            <a:off x="0" y="-180826"/>
            <a:ext cx="3086100" cy="1006961"/>
            <a:chOff x="0" y="-47625"/>
            <a:chExt cx="812800" cy="265208"/>
          </a:xfrm>
        </p:grpSpPr>
        <p:sp>
          <p:nvSpPr>
            <p:cNvPr id="137" name="Google Shape;137;p4"/>
            <p:cNvSpPr/>
            <p:nvPr/>
          </p:nvSpPr>
          <p:spPr>
            <a:xfrm>
              <a:off x="0" y="0"/>
              <a:ext cx="812800" cy="217583"/>
            </a:xfrm>
            <a:custGeom>
              <a:rect b="b" l="l" r="r" t="t"/>
              <a:pathLst>
                <a:path extrusionOk="0" h="21758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17583"/>
                  </a:lnTo>
                  <a:lnTo>
                    <a:pt x="0" y="217583"/>
                  </a:lnTo>
                  <a:close/>
                </a:path>
              </a:pathLst>
            </a:custGeom>
            <a:solidFill>
              <a:srgbClr val="EDC254"/>
            </a:solidFill>
            <a:ln>
              <a:noFill/>
            </a:ln>
          </p:spPr>
        </p:sp>
        <p:sp>
          <p:nvSpPr>
            <p:cNvPr id="138" name="Google Shape;138;p4"/>
            <p:cNvSpPr txBox="1"/>
            <p:nvPr/>
          </p:nvSpPr>
          <p:spPr>
            <a:xfrm>
              <a:off x="0" y="-47625"/>
              <a:ext cx="812800" cy="2652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9" name="Google Shape;139;p4"/>
          <p:cNvGrpSpPr/>
          <p:nvPr/>
        </p:nvGrpSpPr>
        <p:grpSpPr>
          <a:xfrm>
            <a:off x="15201900" y="9280039"/>
            <a:ext cx="3086100" cy="1006961"/>
            <a:chOff x="0" y="-47625"/>
            <a:chExt cx="812800" cy="265208"/>
          </a:xfrm>
        </p:grpSpPr>
        <p:sp>
          <p:nvSpPr>
            <p:cNvPr id="140" name="Google Shape;140;p4"/>
            <p:cNvSpPr/>
            <p:nvPr/>
          </p:nvSpPr>
          <p:spPr>
            <a:xfrm>
              <a:off x="0" y="0"/>
              <a:ext cx="812800" cy="217583"/>
            </a:xfrm>
            <a:custGeom>
              <a:rect b="b" l="l" r="r" t="t"/>
              <a:pathLst>
                <a:path extrusionOk="0" h="217583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217583"/>
                  </a:lnTo>
                  <a:lnTo>
                    <a:pt x="0" y="217583"/>
                  </a:lnTo>
                  <a:close/>
                </a:path>
              </a:pathLst>
            </a:custGeom>
            <a:solidFill>
              <a:srgbClr val="EDC254"/>
            </a:solidFill>
            <a:ln>
              <a:noFill/>
            </a:ln>
          </p:spPr>
        </p:sp>
        <p:sp>
          <p:nvSpPr>
            <p:cNvPr id="141" name="Google Shape;141;p4"/>
            <p:cNvSpPr txBox="1"/>
            <p:nvPr/>
          </p:nvSpPr>
          <p:spPr>
            <a:xfrm>
              <a:off x="0" y="-47625"/>
              <a:ext cx="812800" cy="2652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2" name="Google Shape;142;p4"/>
          <p:cNvSpPr txBox="1"/>
          <p:nvPr/>
        </p:nvSpPr>
        <p:spPr>
          <a:xfrm>
            <a:off x="8300380" y="7419156"/>
            <a:ext cx="449199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Land Guard Demo</a:t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3" name="Google Shape;143;p4"/>
          <p:cNvPicPr preferRelativeResize="0"/>
          <p:nvPr/>
        </p:nvPicPr>
        <p:blipFill rotWithShape="1">
          <a:blip r:embed="rId4">
            <a:alphaModFix/>
          </a:blip>
          <a:srcRect b="17852" l="14339" r="13661" t="0"/>
          <a:stretch/>
        </p:blipFill>
        <p:spPr>
          <a:xfrm>
            <a:off x="7474350" y="1516826"/>
            <a:ext cx="3992900" cy="51113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oogle Shape;148;p5"/>
          <p:cNvGrpSpPr/>
          <p:nvPr/>
        </p:nvGrpSpPr>
        <p:grpSpPr>
          <a:xfrm>
            <a:off x="1028700" y="8690124"/>
            <a:ext cx="3086100" cy="568176"/>
            <a:chOff x="0" y="-47625"/>
            <a:chExt cx="812800" cy="149643"/>
          </a:xfrm>
        </p:grpSpPr>
        <p:sp>
          <p:nvSpPr>
            <p:cNvPr id="149" name="Google Shape;149;p5"/>
            <p:cNvSpPr/>
            <p:nvPr/>
          </p:nvSpPr>
          <p:spPr>
            <a:xfrm>
              <a:off x="0" y="0"/>
              <a:ext cx="812800" cy="102018"/>
            </a:xfrm>
            <a:custGeom>
              <a:rect b="b" l="l" r="r" t="t"/>
              <a:pathLst>
                <a:path extrusionOk="0" h="102018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02018"/>
                  </a:lnTo>
                  <a:lnTo>
                    <a:pt x="0" y="102018"/>
                  </a:lnTo>
                  <a:close/>
                </a:path>
              </a:pathLst>
            </a:custGeom>
            <a:solidFill>
              <a:srgbClr val="EDC254"/>
            </a:solidFill>
            <a:ln>
              <a:noFill/>
            </a:ln>
          </p:spPr>
        </p:sp>
        <p:sp>
          <p:nvSpPr>
            <p:cNvPr id="150" name="Google Shape;150;p5"/>
            <p:cNvSpPr txBox="1"/>
            <p:nvPr/>
          </p:nvSpPr>
          <p:spPr>
            <a:xfrm>
              <a:off x="0" y="-47625"/>
              <a:ext cx="812800" cy="1496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1" name="Google Shape;151;p5"/>
          <p:cNvGrpSpPr/>
          <p:nvPr/>
        </p:nvGrpSpPr>
        <p:grpSpPr>
          <a:xfrm>
            <a:off x="10858500" y="5143500"/>
            <a:ext cx="8610600" cy="8610600"/>
            <a:chOff x="0" y="0"/>
            <a:chExt cx="812800" cy="812800"/>
          </a:xfrm>
        </p:grpSpPr>
        <p:sp>
          <p:nvSpPr>
            <p:cNvPr id="152" name="Google Shape;152;p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748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4" name="Google Shape;154;p5"/>
          <p:cNvSpPr txBox="1"/>
          <p:nvPr/>
        </p:nvSpPr>
        <p:spPr>
          <a:xfrm>
            <a:off x="5410200" y="861978"/>
            <a:ext cx="8610600" cy="9413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68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rgbClr val="93895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Unique Value Proposition</a:t>
            </a:r>
            <a:endParaRPr sz="5400">
              <a:solidFill>
                <a:srgbClr val="93895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" name="Google Shape;155;p5"/>
          <p:cNvSpPr txBox="1"/>
          <p:nvPr/>
        </p:nvSpPr>
        <p:spPr>
          <a:xfrm>
            <a:off x="1559052" y="2592552"/>
            <a:ext cx="9870947" cy="57592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2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❑"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 blockchain land registry in Malawi</a:t>
            </a:r>
            <a:endParaRPr/>
          </a:p>
          <a:p>
            <a:pPr indent="-4572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❑"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Supports urban and rural land transactions</a:t>
            </a:r>
            <a:endParaRPr/>
          </a:p>
          <a:p>
            <a:pPr indent="-4572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❑"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Tamper-proof ownership records using NFTs</a:t>
            </a:r>
            <a:endParaRPr/>
          </a:p>
          <a:p>
            <a:pPr indent="-4572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❑"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Peer-to-peer marketplace with real-time updates</a:t>
            </a:r>
            <a:endParaRPr/>
          </a:p>
          <a:p>
            <a:pPr indent="-4572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❑"/>
            </a:pPr>
            <a:r>
              <a:rPr lang="en-US" sz="3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Designed for inclusivity: mobile-first, offline sync, low fees</a:t>
            </a:r>
            <a:endParaRPr/>
          </a:p>
        </p:txBody>
      </p:sp>
      <p:pic>
        <p:nvPicPr>
          <p:cNvPr id="156" name="Google Shape;156;p5"/>
          <p:cNvPicPr preferRelativeResize="0"/>
          <p:nvPr/>
        </p:nvPicPr>
        <p:blipFill rotWithShape="1">
          <a:blip r:embed="rId3">
            <a:alphaModFix/>
          </a:blip>
          <a:srcRect b="17852" l="14339" r="13661" t="0"/>
          <a:stretch/>
        </p:blipFill>
        <p:spPr>
          <a:xfrm>
            <a:off x="14249239" y="6917463"/>
            <a:ext cx="2479708" cy="282921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2" name="Google Shape;162;p6"/>
          <p:cNvGrpSpPr/>
          <p:nvPr/>
        </p:nvGrpSpPr>
        <p:grpSpPr>
          <a:xfrm>
            <a:off x="13144577" y="-5958298"/>
            <a:ext cx="8946221" cy="11412192"/>
            <a:chOff x="76200" y="-340657"/>
            <a:chExt cx="844481" cy="1077257"/>
          </a:xfrm>
        </p:grpSpPr>
        <p:sp>
          <p:nvSpPr>
            <p:cNvPr id="163" name="Google Shape;163;p6"/>
            <p:cNvSpPr/>
            <p:nvPr/>
          </p:nvSpPr>
          <p:spPr>
            <a:xfrm>
              <a:off x="107881" y="-340657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748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6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5" name="Google Shape;165;p6"/>
          <p:cNvSpPr txBox="1"/>
          <p:nvPr/>
        </p:nvSpPr>
        <p:spPr>
          <a:xfrm>
            <a:off x="851736" y="917966"/>
            <a:ext cx="12483263" cy="7950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00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SDGs UNDP Alignment</a:t>
            </a:r>
            <a:endParaRPr sz="480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166" name="Google Shape;166;p6"/>
          <p:cNvSpPr txBox="1"/>
          <p:nvPr/>
        </p:nvSpPr>
        <p:spPr>
          <a:xfrm>
            <a:off x="509429" y="4007065"/>
            <a:ext cx="2438400" cy="13341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your land is secure, your future is possible</a:t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67" name="Google Shape;167;p6"/>
          <p:cNvPicPr preferRelativeResize="0"/>
          <p:nvPr/>
        </p:nvPicPr>
        <p:blipFill rotWithShape="1">
          <a:blip r:embed="rId3">
            <a:alphaModFix/>
          </a:blip>
          <a:srcRect b="17852" l="14339" r="13661" t="0"/>
          <a:stretch/>
        </p:blipFill>
        <p:spPr>
          <a:xfrm>
            <a:off x="16089046" y="-75452"/>
            <a:ext cx="1935500" cy="2208304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6"/>
          <p:cNvSpPr txBox="1"/>
          <p:nvPr/>
        </p:nvSpPr>
        <p:spPr>
          <a:xfrm>
            <a:off x="13982702" y="7407789"/>
            <a:ext cx="2788068" cy="1645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We can’t build justice alone — but together, we can code it into the continent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2A0947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69" name="Google Shape;169;p6"/>
          <p:cNvSpPr txBox="1"/>
          <p:nvPr/>
        </p:nvSpPr>
        <p:spPr>
          <a:xfrm>
            <a:off x="4179360" y="3919834"/>
            <a:ext cx="3260589" cy="13341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From inheritance rights to co-ownership, LandGuard breaks the cycle of silent exclusion</a:t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667283" y="2392118"/>
            <a:ext cx="1410536" cy="1295400"/>
          </a:xfrm>
          <a:prstGeom prst="roundRect">
            <a:avLst>
              <a:gd fmla="val 16667" name="adj"/>
            </a:avLst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5056445" y="2387600"/>
            <a:ext cx="1410536" cy="1295400"/>
          </a:xfrm>
          <a:prstGeom prst="roundRect">
            <a:avLst>
              <a:gd fmla="val 16667" name="adj"/>
            </a:avLst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10177739" y="2400300"/>
            <a:ext cx="1410536" cy="1295400"/>
          </a:xfrm>
          <a:prstGeom prst="roundRect">
            <a:avLst>
              <a:gd fmla="val 16667" name="adj"/>
            </a:avLst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 txBox="1"/>
          <p:nvPr/>
        </p:nvSpPr>
        <p:spPr>
          <a:xfrm>
            <a:off x="9601200" y="4013630"/>
            <a:ext cx="3063319" cy="13341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verified title is more than a document — it’s a gateway to jobs and prosperity</a:t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14593765" y="2387600"/>
            <a:ext cx="1410536" cy="1295400"/>
          </a:xfrm>
          <a:prstGeom prst="roundRect">
            <a:avLst>
              <a:gd fmla="val 16667" name="adj"/>
            </a:avLst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 txBox="1"/>
          <p:nvPr/>
        </p:nvSpPr>
        <p:spPr>
          <a:xfrm>
            <a:off x="14116468" y="4039030"/>
            <a:ext cx="2788068" cy="8724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Access to truth is access to power</a:t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434658" y="6163189"/>
            <a:ext cx="1410536" cy="1295400"/>
          </a:xfrm>
          <a:prstGeom prst="roundRect">
            <a:avLst>
              <a:gd fmla="val 16667" name="adj"/>
            </a:avLst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 txBox="1"/>
          <p:nvPr/>
        </p:nvSpPr>
        <p:spPr>
          <a:xfrm>
            <a:off x="291153" y="7886700"/>
            <a:ext cx="2788068" cy="8724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Digital deeds mean planned growth</a:t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5011399" y="6163189"/>
            <a:ext cx="1410536" cy="1295400"/>
          </a:xfrm>
          <a:prstGeom prst="roundRect">
            <a:avLst>
              <a:gd fmla="val 16667" name="adj"/>
            </a:avLst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 txBox="1"/>
          <p:nvPr/>
        </p:nvSpPr>
        <p:spPr>
          <a:xfrm>
            <a:off x="4305298" y="7805611"/>
            <a:ext cx="3260589" cy="13341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LandGuard empowers owners to think not just of today, but of generations to come</a:t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14805234" y="5996275"/>
            <a:ext cx="1410536" cy="1295400"/>
          </a:xfrm>
          <a:prstGeom prst="roundRect">
            <a:avLst>
              <a:gd fmla="val 16667" name="adj"/>
            </a:avLst>
          </a:pr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10427591" y="5996275"/>
            <a:ext cx="1410536" cy="1295400"/>
          </a:xfrm>
          <a:prstGeom prst="roundRect">
            <a:avLst>
              <a:gd fmla="val 16667" name="adj"/>
            </a:avLst>
          </a:pr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 txBox="1"/>
          <p:nvPr/>
        </p:nvSpPr>
        <p:spPr>
          <a:xfrm>
            <a:off x="9738825" y="7805611"/>
            <a:ext cx="2788068" cy="8724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 ownership is clear, peace is possible.</a:t>
            </a:r>
            <a:endParaRPr sz="18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grpSp>
        <p:nvGrpSpPr>
          <p:cNvPr id="183" name="Google Shape;183;p6"/>
          <p:cNvGrpSpPr/>
          <p:nvPr/>
        </p:nvGrpSpPr>
        <p:grpSpPr>
          <a:xfrm>
            <a:off x="-404019" y="9685647"/>
            <a:ext cx="6578600" cy="822176"/>
            <a:chOff x="0" y="-47625"/>
            <a:chExt cx="1732635" cy="216540"/>
          </a:xfrm>
        </p:grpSpPr>
        <p:sp>
          <p:nvSpPr>
            <p:cNvPr id="184" name="Google Shape;184;p6"/>
            <p:cNvSpPr/>
            <p:nvPr/>
          </p:nvSpPr>
          <p:spPr>
            <a:xfrm>
              <a:off x="0" y="0"/>
              <a:ext cx="1732635" cy="168915"/>
            </a:xfrm>
            <a:custGeom>
              <a:rect b="b" l="l" r="r" t="t"/>
              <a:pathLst>
                <a:path extrusionOk="0" h="168915" w="1732635">
                  <a:moveTo>
                    <a:pt x="0" y="0"/>
                  </a:moveTo>
                  <a:lnTo>
                    <a:pt x="1732635" y="0"/>
                  </a:lnTo>
                  <a:lnTo>
                    <a:pt x="1732635" y="168915"/>
                  </a:lnTo>
                  <a:lnTo>
                    <a:pt x="0" y="168915"/>
                  </a:lnTo>
                  <a:close/>
                </a:path>
              </a:pathLst>
            </a:custGeom>
            <a:solidFill>
              <a:srgbClr val="EDC254"/>
            </a:solidFill>
            <a:ln>
              <a:noFill/>
            </a:ln>
          </p:spPr>
        </p:sp>
        <p:sp>
          <p:nvSpPr>
            <p:cNvPr id="185" name="Google Shape;185;p6"/>
            <p:cNvSpPr txBox="1"/>
            <p:nvPr/>
          </p:nvSpPr>
          <p:spPr>
            <a:xfrm>
              <a:off x="0" y="-47625"/>
              <a:ext cx="1732635" cy="2165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6" name="Google Shape;186;p6"/>
          <p:cNvGrpSpPr/>
          <p:nvPr/>
        </p:nvGrpSpPr>
        <p:grpSpPr>
          <a:xfrm>
            <a:off x="9078276" y="773985"/>
            <a:ext cx="4232386" cy="895619"/>
            <a:chOff x="0" y="-47625"/>
            <a:chExt cx="210726" cy="235883"/>
          </a:xfrm>
        </p:grpSpPr>
        <p:sp>
          <p:nvSpPr>
            <p:cNvPr id="187" name="Google Shape;187;p6"/>
            <p:cNvSpPr/>
            <p:nvPr/>
          </p:nvSpPr>
          <p:spPr>
            <a:xfrm>
              <a:off x="0" y="0"/>
              <a:ext cx="210726" cy="188258"/>
            </a:xfrm>
            <a:custGeom>
              <a:rect b="b" l="l" r="r" t="t"/>
              <a:pathLst>
                <a:path extrusionOk="0" h="188258" w="210726">
                  <a:moveTo>
                    <a:pt x="0" y="0"/>
                  </a:moveTo>
                  <a:lnTo>
                    <a:pt x="210726" y="0"/>
                  </a:lnTo>
                  <a:lnTo>
                    <a:pt x="210726" y="188258"/>
                  </a:lnTo>
                  <a:lnTo>
                    <a:pt x="0" y="188258"/>
                  </a:lnTo>
                  <a:close/>
                </a:path>
              </a:pathLst>
            </a:custGeom>
            <a:solidFill>
              <a:srgbClr val="EDC254"/>
            </a:solidFill>
            <a:ln>
              <a:noFill/>
            </a:ln>
          </p:spPr>
        </p:sp>
        <p:sp>
          <p:nvSpPr>
            <p:cNvPr id="188" name="Google Shape;188;p6"/>
            <p:cNvSpPr txBox="1"/>
            <p:nvPr/>
          </p:nvSpPr>
          <p:spPr>
            <a:xfrm>
              <a:off x="0" y="-47625"/>
              <a:ext cx="210726" cy="23588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3" name="Google Shape;193;p7"/>
          <p:cNvGrpSpPr/>
          <p:nvPr/>
        </p:nvGrpSpPr>
        <p:grpSpPr>
          <a:xfrm>
            <a:off x="-404019" y="9685647"/>
            <a:ext cx="6578600" cy="822176"/>
            <a:chOff x="0" y="-47625"/>
            <a:chExt cx="1732635" cy="216540"/>
          </a:xfrm>
        </p:grpSpPr>
        <p:sp>
          <p:nvSpPr>
            <p:cNvPr id="194" name="Google Shape;194;p7"/>
            <p:cNvSpPr/>
            <p:nvPr/>
          </p:nvSpPr>
          <p:spPr>
            <a:xfrm>
              <a:off x="0" y="0"/>
              <a:ext cx="1732635" cy="168915"/>
            </a:xfrm>
            <a:custGeom>
              <a:rect b="b" l="l" r="r" t="t"/>
              <a:pathLst>
                <a:path extrusionOk="0" h="168915" w="1732635">
                  <a:moveTo>
                    <a:pt x="0" y="0"/>
                  </a:moveTo>
                  <a:lnTo>
                    <a:pt x="1732635" y="0"/>
                  </a:lnTo>
                  <a:lnTo>
                    <a:pt x="1732635" y="168915"/>
                  </a:lnTo>
                  <a:lnTo>
                    <a:pt x="0" y="168915"/>
                  </a:lnTo>
                  <a:close/>
                </a:path>
              </a:pathLst>
            </a:custGeom>
            <a:solidFill>
              <a:srgbClr val="EDC254"/>
            </a:solidFill>
            <a:ln>
              <a:noFill/>
            </a:ln>
          </p:spPr>
        </p:sp>
        <p:sp>
          <p:nvSpPr>
            <p:cNvPr id="195" name="Google Shape;195;p7"/>
            <p:cNvSpPr txBox="1"/>
            <p:nvPr/>
          </p:nvSpPr>
          <p:spPr>
            <a:xfrm>
              <a:off x="0" y="-47625"/>
              <a:ext cx="1732635" cy="2165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6" name="Google Shape;196;p7"/>
          <p:cNvGrpSpPr/>
          <p:nvPr/>
        </p:nvGrpSpPr>
        <p:grpSpPr>
          <a:xfrm>
            <a:off x="6666208" y="2137750"/>
            <a:ext cx="11268659" cy="6463566"/>
            <a:chOff x="0" y="0"/>
            <a:chExt cx="7981950" cy="4578350"/>
          </a:xfrm>
        </p:grpSpPr>
        <p:sp>
          <p:nvSpPr>
            <p:cNvPr id="197" name="Google Shape;197;p7"/>
            <p:cNvSpPr/>
            <p:nvPr/>
          </p:nvSpPr>
          <p:spPr>
            <a:xfrm>
              <a:off x="765810" y="21590"/>
              <a:ext cx="6451600" cy="4326890"/>
            </a:xfrm>
            <a:custGeom>
              <a:rect b="b" l="l" r="r" t="t"/>
              <a:pathLst>
                <a:path extrusionOk="0" h="4326890" w="6451600">
                  <a:moveTo>
                    <a:pt x="6224270" y="0"/>
                  </a:moveTo>
                  <a:lnTo>
                    <a:pt x="226060" y="0"/>
                  </a:lnTo>
                  <a:cubicBezTo>
                    <a:pt x="101600" y="0"/>
                    <a:pt x="0" y="101600"/>
                    <a:pt x="0" y="226060"/>
                  </a:cubicBezTo>
                  <a:lnTo>
                    <a:pt x="0" y="4326890"/>
                  </a:lnTo>
                  <a:lnTo>
                    <a:pt x="6451601" y="4326890"/>
                  </a:lnTo>
                  <a:lnTo>
                    <a:pt x="6451601" y="226060"/>
                  </a:lnTo>
                  <a:cubicBezTo>
                    <a:pt x="6450331" y="101600"/>
                    <a:pt x="6348731" y="0"/>
                    <a:pt x="6224270" y="0"/>
                  </a:cubicBezTo>
                  <a:close/>
                  <a:moveTo>
                    <a:pt x="6252210" y="4043680"/>
                  </a:moveTo>
                  <a:lnTo>
                    <a:pt x="196851" y="4043680"/>
                  </a:lnTo>
                  <a:lnTo>
                    <a:pt x="196851" y="255270"/>
                  </a:lnTo>
                  <a:lnTo>
                    <a:pt x="6252210" y="255270"/>
                  </a:lnTo>
                  <a:lnTo>
                    <a:pt x="6252210" y="4043680"/>
                  </a:lnTo>
                  <a:close/>
                </a:path>
              </a:pathLst>
            </a:custGeom>
            <a:solidFill>
              <a:srgbClr val="9390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7"/>
            <p:cNvSpPr/>
            <p:nvPr/>
          </p:nvSpPr>
          <p:spPr>
            <a:xfrm>
              <a:off x="0" y="0"/>
              <a:ext cx="7981950" cy="4542790"/>
            </a:xfrm>
            <a:custGeom>
              <a:rect b="b" l="l" r="r" t="t"/>
              <a:pathLst>
                <a:path extrusionOk="0" h="4542790" w="7981950">
                  <a:moveTo>
                    <a:pt x="7239000" y="4348480"/>
                  </a:moveTo>
                  <a:lnTo>
                    <a:pt x="7239000" y="243840"/>
                  </a:lnTo>
                  <a:cubicBezTo>
                    <a:pt x="7239000" y="109220"/>
                    <a:pt x="7129780" y="0"/>
                    <a:pt x="6995160" y="0"/>
                  </a:cubicBezTo>
                  <a:lnTo>
                    <a:pt x="985520" y="0"/>
                  </a:lnTo>
                  <a:cubicBezTo>
                    <a:pt x="852170" y="0"/>
                    <a:pt x="742950" y="109220"/>
                    <a:pt x="742950" y="243840"/>
                  </a:cubicBezTo>
                  <a:lnTo>
                    <a:pt x="742950" y="4349750"/>
                  </a:lnTo>
                  <a:lnTo>
                    <a:pt x="0" y="4349750"/>
                  </a:lnTo>
                  <a:lnTo>
                    <a:pt x="0" y="4447540"/>
                  </a:lnTo>
                  <a:cubicBezTo>
                    <a:pt x="0" y="4500880"/>
                    <a:pt x="43180" y="4542790"/>
                    <a:pt x="95250" y="4542790"/>
                  </a:cubicBezTo>
                  <a:lnTo>
                    <a:pt x="7886700" y="4542790"/>
                  </a:lnTo>
                  <a:cubicBezTo>
                    <a:pt x="7940040" y="4542790"/>
                    <a:pt x="7981950" y="4499610"/>
                    <a:pt x="7981950" y="4447540"/>
                  </a:cubicBezTo>
                  <a:lnTo>
                    <a:pt x="7981950" y="4349750"/>
                  </a:lnTo>
                  <a:lnTo>
                    <a:pt x="7239000" y="4349750"/>
                  </a:lnTo>
                  <a:close/>
                  <a:moveTo>
                    <a:pt x="4519930" y="4348480"/>
                  </a:moveTo>
                  <a:lnTo>
                    <a:pt x="4519930" y="4349750"/>
                  </a:lnTo>
                  <a:cubicBezTo>
                    <a:pt x="4519930" y="4403090"/>
                    <a:pt x="4476750" y="4445000"/>
                    <a:pt x="4424680" y="4445000"/>
                  </a:cubicBezTo>
                  <a:lnTo>
                    <a:pt x="3557270" y="4445000"/>
                  </a:lnTo>
                  <a:cubicBezTo>
                    <a:pt x="3503930" y="4445000"/>
                    <a:pt x="3462020" y="4401820"/>
                    <a:pt x="3462020" y="4349750"/>
                  </a:cubicBezTo>
                  <a:lnTo>
                    <a:pt x="3462020" y="4348480"/>
                  </a:lnTo>
                  <a:lnTo>
                    <a:pt x="765810" y="4348480"/>
                  </a:lnTo>
                  <a:lnTo>
                    <a:pt x="765810" y="247650"/>
                  </a:lnTo>
                  <a:cubicBezTo>
                    <a:pt x="765810" y="123190"/>
                    <a:pt x="867410" y="21590"/>
                    <a:pt x="991870" y="21590"/>
                  </a:cubicBezTo>
                  <a:lnTo>
                    <a:pt x="6990080" y="21590"/>
                  </a:lnTo>
                  <a:cubicBezTo>
                    <a:pt x="7114539" y="21590"/>
                    <a:pt x="7216139" y="123190"/>
                    <a:pt x="7216139" y="247650"/>
                  </a:cubicBezTo>
                  <a:lnTo>
                    <a:pt x="7216139" y="4348480"/>
                  </a:lnTo>
                  <a:lnTo>
                    <a:pt x="4519930" y="4348480"/>
                  </a:lnTo>
                  <a:close/>
                </a:path>
              </a:pathLst>
            </a:custGeom>
            <a:solidFill>
              <a:srgbClr val="EDC2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7"/>
            <p:cNvSpPr/>
            <p:nvPr/>
          </p:nvSpPr>
          <p:spPr>
            <a:xfrm>
              <a:off x="3460750" y="4349750"/>
              <a:ext cx="1059180" cy="96520"/>
            </a:xfrm>
            <a:custGeom>
              <a:rect b="b" l="l" r="r" t="t"/>
              <a:pathLst>
                <a:path extrusionOk="0" h="96520" w="1059180">
                  <a:moveTo>
                    <a:pt x="96520" y="96520"/>
                  </a:moveTo>
                  <a:lnTo>
                    <a:pt x="963930" y="96520"/>
                  </a:lnTo>
                  <a:cubicBezTo>
                    <a:pt x="1017270" y="96520"/>
                    <a:pt x="1059180" y="53340"/>
                    <a:pt x="1059180" y="1270"/>
                  </a:cubicBezTo>
                  <a:lnTo>
                    <a:pt x="1059180" y="0"/>
                  </a:lnTo>
                  <a:lnTo>
                    <a:pt x="0" y="0"/>
                  </a:lnTo>
                  <a:lnTo>
                    <a:pt x="0" y="1270"/>
                  </a:lnTo>
                  <a:cubicBezTo>
                    <a:pt x="0" y="53340"/>
                    <a:pt x="43180" y="96520"/>
                    <a:pt x="96520" y="9652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7"/>
            <p:cNvSpPr/>
            <p:nvPr/>
          </p:nvSpPr>
          <p:spPr>
            <a:xfrm>
              <a:off x="163830" y="4542790"/>
              <a:ext cx="7654290" cy="35560"/>
            </a:xfrm>
            <a:custGeom>
              <a:rect b="b" l="l" r="r" t="t"/>
              <a:pathLst>
                <a:path extrusionOk="0" h="35560" w="7654290">
                  <a:moveTo>
                    <a:pt x="0" y="0"/>
                  </a:moveTo>
                  <a:cubicBezTo>
                    <a:pt x="0" y="20320"/>
                    <a:pt x="16510" y="35560"/>
                    <a:pt x="35560" y="35560"/>
                  </a:cubicBezTo>
                  <a:lnTo>
                    <a:pt x="7618730" y="35560"/>
                  </a:lnTo>
                  <a:cubicBezTo>
                    <a:pt x="7639050" y="35560"/>
                    <a:pt x="7654290" y="19050"/>
                    <a:pt x="765429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01" name="Google Shape;201;p7"/>
          <p:cNvGrpSpPr/>
          <p:nvPr/>
        </p:nvGrpSpPr>
        <p:grpSpPr>
          <a:xfrm>
            <a:off x="7134921" y="-501501"/>
            <a:ext cx="6578600" cy="822176"/>
            <a:chOff x="0" y="-47625"/>
            <a:chExt cx="1732635" cy="216540"/>
          </a:xfrm>
        </p:grpSpPr>
        <p:sp>
          <p:nvSpPr>
            <p:cNvPr id="202" name="Google Shape;202;p7"/>
            <p:cNvSpPr/>
            <p:nvPr/>
          </p:nvSpPr>
          <p:spPr>
            <a:xfrm>
              <a:off x="0" y="0"/>
              <a:ext cx="1732635" cy="168915"/>
            </a:xfrm>
            <a:custGeom>
              <a:rect b="b" l="l" r="r" t="t"/>
              <a:pathLst>
                <a:path extrusionOk="0" h="168915" w="1732635">
                  <a:moveTo>
                    <a:pt x="0" y="0"/>
                  </a:moveTo>
                  <a:lnTo>
                    <a:pt x="1732635" y="0"/>
                  </a:lnTo>
                  <a:lnTo>
                    <a:pt x="1732635" y="168915"/>
                  </a:lnTo>
                  <a:lnTo>
                    <a:pt x="0" y="168915"/>
                  </a:lnTo>
                  <a:close/>
                </a:path>
              </a:pathLst>
            </a:custGeom>
            <a:solidFill>
              <a:srgbClr val="EDC254"/>
            </a:solidFill>
            <a:ln>
              <a:noFill/>
            </a:ln>
          </p:spPr>
        </p:sp>
        <p:sp>
          <p:nvSpPr>
            <p:cNvPr id="203" name="Google Shape;203;p7"/>
            <p:cNvSpPr txBox="1"/>
            <p:nvPr/>
          </p:nvSpPr>
          <p:spPr>
            <a:xfrm>
              <a:off x="0" y="-47625"/>
              <a:ext cx="1732635" cy="21654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4" name="Google Shape;204;p7"/>
          <p:cNvSpPr/>
          <p:nvPr/>
        </p:nvSpPr>
        <p:spPr>
          <a:xfrm rot="-5400000">
            <a:off x="16760688" y="1103414"/>
            <a:ext cx="1878686" cy="469671"/>
          </a:xfrm>
          <a:custGeom>
            <a:rect b="b" l="l" r="r" t="t"/>
            <a:pathLst>
              <a:path extrusionOk="0" h="469671" w="1878686">
                <a:moveTo>
                  <a:pt x="0" y="0"/>
                </a:moveTo>
                <a:lnTo>
                  <a:pt x="1878686" y="0"/>
                </a:lnTo>
                <a:lnTo>
                  <a:pt x="1878686" y="469671"/>
                </a:lnTo>
                <a:lnTo>
                  <a:pt x="0" y="4696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05" name="Google Shape;205;p7"/>
          <p:cNvSpPr txBox="1"/>
          <p:nvPr/>
        </p:nvSpPr>
        <p:spPr>
          <a:xfrm>
            <a:off x="1028700" y="943080"/>
            <a:ext cx="5330825" cy="11176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 Stack</a:t>
            </a:r>
            <a:endParaRPr sz="166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7"/>
          <p:cNvSpPr txBox="1"/>
          <p:nvPr/>
        </p:nvSpPr>
        <p:spPr>
          <a:xfrm>
            <a:off x="660277" y="2634654"/>
            <a:ext cx="6106200" cy="56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00050" lvl="0" marL="4000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romanUcPeriod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Solidity smart contracts (ERC-1155) on Avalanche</a:t>
            </a:r>
            <a:endParaRPr/>
          </a:p>
          <a:p>
            <a:pPr indent="-400050" lvl="0" marL="4000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romanUcPeriod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GIS integration for land mapping</a:t>
            </a:r>
            <a:endParaRPr/>
          </a:p>
          <a:p>
            <a:pPr indent="-400050" lvl="0" marL="4000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romanUcPeriod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Frontend: React Native (Mobile), React (Web)</a:t>
            </a:r>
            <a:endParaRPr/>
          </a:p>
          <a:p>
            <a:pPr indent="-400050" lvl="0" marL="4000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romanUcPeriod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Backend: Node.js, MySQL, IPFS for off-chain storage</a:t>
            </a:r>
            <a:endParaRPr/>
          </a:p>
          <a:p>
            <a:pPr indent="-400050" lvl="0" marL="4000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romanUcPeriod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QA: Hardhat testing + testnets deployments</a:t>
            </a:r>
            <a:endParaRPr/>
          </a:p>
        </p:txBody>
      </p:sp>
      <p:pic>
        <p:nvPicPr>
          <p:cNvPr id="207" name="Google Shape;207;p7"/>
          <p:cNvPicPr preferRelativeResize="0"/>
          <p:nvPr/>
        </p:nvPicPr>
        <p:blipFill rotWithShape="1">
          <a:blip r:embed="rId4">
            <a:alphaModFix/>
          </a:blip>
          <a:srcRect b="17852" l="14339" r="13661" t="0"/>
          <a:stretch/>
        </p:blipFill>
        <p:spPr>
          <a:xfrm>
            <a:off x="14698335" y="-144082"/>
            <a:ext cx="1935500" cy="2208304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7"/>
          <p:cNvSpPr/>
          <p:nvPr/>
        </p:nvSpPr>
        <p:spPr>
          <a:xfrm>
            <a:off x="8000999" y="2552700"/>
            <a:ext cx="8632835" cy="5334000"/>
          </a:xfrm>
          <a:prstGeom prst="rect">
            <a:avLst/>
          </a:prstGeom>
          <a:solidFill>
            <a:srgbClr val="5F497A"/>
          </a:solidFill>
          <a:ln cap="flat" cmpd="sng" w="25400">
            <a:solidFill>
              <a:srgbClr val="2136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D0E0E3"/>
                </a:solidFill>
                <a:latin typeface="Calibri"/>
                <a:ea typeface="Calibri"/>
                <a:cs typeface="Calibri"/>
                <a:sym typeface="Calibri"/>
              </a:rPr>
              <a:t>Chain ID: 335</a:t>
            </a:r>
            <a:endParaRPr b="1" sz="2000">
              <a:solidFill>
                <a:srgbClr val="D0E0E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D0E0E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D0E0E3"/>
                </a:solidFill>
                <a:latin typeface="Calibri"/>
                <a:ea typeface="Calibri"/>
                <a:cs typeface="Calibri"/>
                <a:sym typeface="Calibri"/>
              </a:rPr>
              <a:t>RPC URL: </a:t>
            </a:r>
            <a:r>
              <a:rPr b="1" lang="en-US" sz="2000" u="sng">
                <a:solidFill>
                  <a:srgbClr val="D0E0E3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https://subnets.avax.network/defi-kingdoms/dfk-chain-testnet/rpc</a:t>
            </a:r>
            <a:endParaRPr b="1" sz="2000">
              <a:solidFill>
                <a:srgbClr val="D0E0E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D0E0E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D0E0E3"/>
                </a:solidFill>
                <a:latin typeface="Calibri"/>
                <a:ea typeface="Calibri"/>
                <a:cs typeface="Calibri"/>
                <a:sym typeface="Calibri"/>
              </a:rPr>
              <a:t>Currency Symbol : JEWEL</a:t>
            </a:r>
            <a:endParaRPr b="1" sz="2000">
              <a:solidFill>
                <a:srgbClr val="D0E0E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D0E0E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D0E0E3"/>
                </a:solidFill>
                <a:latin typeface="Calibri"/>
                <a:ea typeface="Calibri"/>
                <a:cs typeface="Calibri"/>
                <a:sym typeface="Calibri"/>
              </a:rPr>
              <a:t>Explorer:  https://subnets-test.avax.network/defi-kingdoms/address/0x4E5446D1De4cd3c6A6a81D6F64d3E323D8c8ee6D</a:t>
            </a:r>
            <a:endParaRPr b="1" sz="2000">
              <a:solidFill>
                <a:srgbClr val="D0E0E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D0E0E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D0E0E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D0E0E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D0E0E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" name="Google Shape;213;p8"/>
          <p:cNvGrpSpPr/>
          <p:nvPr/>
        </p:nvGrpSpPr>
        <p:grpSpPr>
          <a:xfrm>
            <a:off x="12701701" y="-5418018"/>
            <a:ext cx="8946221" cy="11412192"/>
            <a:chOff x="76200" y="-340657"/>
            <a:chExt cx="844481" cy="1077257"/>
          </a:xfrm>
        </p:grpSpPr>
        <p:sp>
          <p:nvSpPr>
            <p:cNvPr id="214" name="Google Shape;214;p8"/>
            <p:cNvSpPr/>
            <p:nvPr/>
          </p:nvSpPr>
          <p:spPr>
            <a:xfrm>
              <a:off x="107881" y="-340657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7487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16" name="Google Shape;216;p8"/>
          <p:cNvCxnSpPr/>
          <p:nvPr/>
        </p:nvCxnSpPr>
        <p:spPr>
          <a:xfrm>
            <a:off x="976566" y="4361134"/>
            <a:ext cx="14339634" cy="96565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17" name="Google Shape;217;p8"/>
          <p:cNvGrpSpPr/>
          <p:nvPr/>
        </p:nvGrpSpPr>
        <p:grpSpPr>
          <a:xfrm>
            <a:off x="1550001" y="3360074"/>
            <a:ext cx="2094217" cy="2051805"/>
            <a:chOff x="0" y="0"/>
            <a:chExt cx="812800" cy="812800"/>
          </a:xfrm>
        </p:grpSpPr>
        <p:sp>
          <p:nvSpPr>
            <p:cNvPr id="218" name="Google Shape;218;p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C2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" name="Google Shape;219;p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0" name="Google Shape;220;p8"/>
          <p:cNvSpPr txBox="1"/>
          <p:nvPr/>
        </p:nvSpPr>
        <p:spPr>
          <a:xfrm>
            <a:off x="4804733" y="3190003"/>
            <a:ext cx="1909178" cy="2141966"/>
          </a:xfrm>
          <a:prstGeom prst="rect">
            <a:avLst/>
          </a:prstGeom>
          <a:noFill/>
          <a:ln>
            <a:noFill/>
          </a:ln>
        </p:spPr>
        <p:txBody>
          <a:bodyPr anchorCtr="0" anchor="ctr" bIns="50800" lIns="50800" spcFirstLastPara="1" rIns="50800" wrap="square" tIns="50800">
            <a:noAutofit/>
          </a:bodyPr>
          <a:lstStyle/>
          <a:p>
            <a:pPr indent="0" lvl="0" marL="0" marR="0" rtl="0" algn="ctr">
              <a:lnSpc>
                <a:spcPct val="147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1" name="Google Shape;221;p8"/>
          <p:cNvGrpSpPr/>
          <p:nvPr/>
        </p:nvGrpSpPr>
        <p:grpSpPr>
          <a:xfrm>
            <a:off x="5113730" y="3360074"/>
            <a:ext cx="2094217" cy="2051805"/>
            <a:chOff x="0" y="0"/>
            <a:chExt cx="812800" cy="812800"/>
          </a:xfrm>
        </p:grpSpPr>
        <p:sp>
          <p:nvSpPr>
            <p:cNvPr id="222" name="Google Shape;222;p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C2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" name="Google Shape;223;p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4" name="Google Shape;224;p8"/>
          <p:cNvSpPr txBox="1"/>
          <p:nvPr/>
        </p:nvSpPr>
        <p:spPr>
          <a:xfrm>
            <a:off x="5782391" y="527527"/>
            <a:ext cx="8115300" cy="959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6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Market Opportunity</a:t>
            </a:r>
            <a:endParaRPr sz="199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p8"/>
          <p:cNvSpPr txBox="1"/>
          <p:nvPr/>
        </p:nvSpPr>
        <p:spPr>
          <a:xfrm>
            <a:off x="1683521" y="3788783"/>
            <a:ext cx="1650206" cy="14207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0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</a:t>
            </a:r>
            <a:endParaRPr/>
          </a:p>
        </p:txBody>
      </p:sp>
      <p:grpSp>
        <p:nvGrpSpPr>
          <p:cNvPr id="226" name="Google Shape;226;p8"/>
          <p:cNvGrpSpPr/>
          <p:nvPr/>
        </p:nvGrpSpPr>
        <p:grpSpPr>
          <a:xfrm>
            <a:off x="8792933" y="3335231"/>
            <a:ext cx="2094217" cy="2051805"/>
            <a:chOff x="0" y="0"/>
            <a:chExt cx="812800" cy="812800"/>
          </a:xfrm>
        </p:grpSpPr>
        <p:sp>
          <p:nvSpPr>
            <p:cNvPr id="227" name="Google Shape;227;p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C2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9" name="Google Shape;229;p8"/>
          <p:cNvSpPr txBox="1"/>
          <p:nvPr/>
        </p:nvSpPr>
        <p:spPr>
          <a:xfrm>
            <a:off x="5352557" y="3722731"/>
            <a:ext cx="1650206" cy="14207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0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</a:t>
            </a:r>
            <a:endParaRPr/>
          </a:p>
        </p:txBody>
      </p:sp>
      <p:sp>
        <p:nvSpPr>
          <p:cNvPr id="230" name="Google Shape;230;p8"/>
          <p:cNvSpPr txBox="1"/>
          <p:nvPr/>
        </p:nvSpPr>
        <p:spPr>
          <a:xfrm>
            <a:off x="9014938" y="3650748"/>
            <a:ext cx="1650206" cy="14207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0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3</a:t>
            </a:r>
            <a:endParaRPr/>
          </a:p>
        </p:txBody>
      </p:sp>
      <p:sp>
        <p:nvSpPr>
          <p:cNvPr id="231" name="Google Shape;231;p8"/>
          <p:cNvSpPr txBox="1"/>
          <p:nvPr/>
        </p:nvSpPr>
        <p:spPr>
          <a:xfrm>
            <a:off x="1756711" y="5668093"/>
            <a:ext cx="2490958" cy="2507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Malawi land registry reform under 2063 Vision</a:t>
            </a:r>
            <a:endParaRPr/>
          </a:p>
        </p:txBody>
      </p:sp>
      <p:grpSp>
        <p:nvGrpSpPr>
          <p:cNvPr id="232" name="Google Shape;232;p8"/>
          <p:cNvGrpSpPr/>
          <p:nvPr/>
        </p:nvGrpSpPr>
        <p:grpSpPr>
          <a:xfrm>
            <a:off x="15824200" y="3228647"/>
            <a:ext cx="1435100" cy="1945606"/>
            <a:chOff x="0" y="-47625"/>
            <a:chExt cx="377969" cy="512423"/>
          </a:xfrm>
        </p:grpSpPr>
        <p:sp>
          <p:nvSpPr>
            <p:cNvPr id="233" name="Google Shape;233;p8"/>
            <p:cNvSpPr/>
            <p:nvPr/>
          </p:nvSpPr>
          <p:spPr>
            <a:xfrm>
              <a:off x="0" y="0"/>
              <a:ext cx="377969" cy="464798"/>
            </a:xfrm>
            <a:custGeom>
              <a:rect b="b" l="l" r="r" t="t"/>
              <a:pathLst>
                <a:path extrusionOk="0" h="464798" w="377969">
                  <a:moveTo>
                    <a:pt x="188984" y="0"/>
                  </a:moveTo>
                  <a:lnTo>
                    <a:pt x="188984" y="0"/>
                  </a:lnTo>
                  <a:cubicBezTo>
                    <a:pt x="239106" y="0"/>
                    <a:pt x="287175" y="19911"/>
                    <a:pt x="322616" y="55352"/>
                  </a:cubicBezTo>
                  <a:cubicBezTo>
                    <a:pt x="358058" y="90794"/>
                    <a:pt x="377969" y="138863"/>
                    <a:pt x="377969" y="188984"/>
                  </a:cubicBezTo>
                  <a:lnTo>
                    <a:pt x="377969" y="275814"/>
                  </a:lnTo>
                  <a:cubicBezTo>
                    <a:pt x="377969" y="380187"/>
                    <a:pt x="293358" y="464798"/>
                    <a:pt x="188984" y="464798"/>
                  </a:cubicBezTo>
                  <a:lnTo>
                    <a:pt x="188984" y="464798"/>
                  </a:lnTo>
                  <a:cubicBezTo>
                    <a:pt x="138863" y="464798"/>
                    <a:pt x="90794" y="444887"/>
                    <a:pt x="55352" y="409446"/>
                  </a:cubicBezTo>
                  <a:cubicBezTo>
                    <a:pt x="19911" y="374004"/>
                    <a:pt x="0" y="325935"/>
                    <a:pt x="0" y="275814"/>
                  </a:cubicBezTo>
                  <a:lnTo>
                    <a:pt x="0" y="188984"/>
                  </a:lnTo>
                  <a:cubicBezTo>
                    <a:pt x="0" y="84611"/>
                    <a:pt x="84611" y="0"/>
                    <a:pt x="188984" y="0"/>
                  </a:cubicBezTo>
                  <a:close/>
                </a:path>
              </a:pathLst>
            </a:custGeom>
            <a:solidFill>
              <a:srgbClr val="EDC2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" name="Google Shape;234;p8"/>
            <p:cNvSpPr txBox="1"/>
            <p:nvPr/>
          </p:nvSpPr>
          <p:spPr>
            <a:xfrm>
              <a:off x="0" y="-47625"/>
              <a:ext cx="377969" cy="5124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5" name="Google Shape;235;p8"/>
          <p:cNvGrpSpPr/>
          <p:nvPr/>
        </p:nvGrpSpPr>
        <p:grpSpPr>
          <a:xfrm>
            <a:off x="-1108617" y="5170682"/>
            <a:ext cx="1435100" cy="6061043"/>
            <a:chOff x="0" y="-47625"/>
            <a:chExt cx="377969" cy="1596324"/>
          </a:xfrm>
        </p:grpSpPr>
        <p:sp>
          <p:nvSpPr>
            <p:cNvPr id="236" name="Google Shape;236;p8"/>
            <p:cNvSpPr/>
            <p:nvPr/>
          </p:nvSpPr>
          <p:spPr>
            <a:xfrm>
              <a:off x="0" y="0"/>
              <a:ext cx="377969" cy="1548699"/>
            </a:xfrm>
            <a:custGeom>
              <a:rect b="b" l="l" r="r" t="t"/>
              <a:pathLst>
                <a:path extrusionOk="0" h="1548699" w="377969">
                  <a:moveTo>
                    <a:pt x="188984" y="0"/>
                  </a:moveTo>
                  <a:lnTo>
                    <a:pt x="188984" y="0"/>
                  </a:lnTo>
                  <a:cubicBezTo>
                    <a:pt x="239106" y="0"/>
                    <a:pt x="287175" y="19911"/>
                    <a:pt x="322616" y="55352"/>
                  </a:cubicBezTo>
                  <a:cubicBezTo>
                    <a:pt x="358058" y="90794"/>
                    <a:pt x="377969" y="138863"/>
                    <a:pt x="377969" y="188984"/>
                  </a:cubicBezTo>
                  <a:lnTo>
                    <a:pt x="377969" y="1359715"/>
                  </a:lnTo>
                  <a:cubicBezTo>
                    <a:pt x="377969" y="1464088"/>
                    <a:pt x="293358" y="1548699"/>
                    <a:pt x="188984" y="1548699"/>
                  </a:cubicBezTo>
                  <a:lnTo>
                    <a:pt x="188984" y="1548699"/>
                  </a:lnTo>
                  <a:cubicBezTo>
                    <a:pt x="138863" y="1548699"/>
                    <a:pt x="90794" y="1528788"/>
                    <a:pt x="55352" y="1493347"/>
                  </a:cubicBezTo>
                  <a:cubicBezTo>
                    <a:pt x="19911" y="1457905"/>
                    <a:pt x="0" y="1409836"/>
                    <a:pt x="0" y="1359715"/>
                  </a:cubicBezTo>
                  <a:lnTo>
                    <a:pt x="0" y="188984"/>
                  </a:lnTo>
                  <a:cubicBezTo>
                    <a:pt x="0" y="84611"/>
                    <a:pt x="84611" y="0"/>
                    <a:pt x="188984" y="0"/>
                  </a:cubicBezTo>
                  <a:close/>
                </a:path>
              </a:pathLst>
            </a:custGeom>
            <a:solidFill>
              <a:srgbClr val="EDC2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" name="Google Shape;237;p8"/>
            <p:cNvSpPr txBox="1"/>
            <p:nvPr/>
          </p:nvSpPr>
          <p:spPr>
            <a:xfrm>
              <a:off x="0" y="-47625"/>
              <a:ext cx="377969" cy="15963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8" name="Google Shape;238;p8"/>
          <p:cNvSpPr txBox="1"/>
          <p:nvPr/>
        </p:nvSpPr>
        <p:spPr>
          <a:xfrm>
            <a:off x="5194945" y="5643119"/>
            <a:ext cx="2490958" cy="25185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Over 10 million rural landowners and growing urban market</a:t>
            </a:r>
            <a:endParaRPr/>
          </a:p>
        </p:txBody>
      </p:sp>
      <p:sp>
        <p:nvSpPr>
          <p:cNvPr id="239" name="Google Shape;239;p8"/>
          <p:cNvSpPr txBox="1"/>
          <p:nvPr/>
        </p:nvSpPr>
        <p:spPr>
          <a:xfrm>
            <a:off x="9116131" y="5635202"/>
            <a:ext cx="2490958" cy="38111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Diaspora remittances (over $250M/year) seeking safe land investments</a:t>
            </a:r>
            <a:endParaRPr/>
          </a:p>
        </p:txBody>
      </p:sp>
      <p:sp>
        <p:nvSpPr>
          <p:cNvPr id="240" name="Google Shape;240;p8"/>
          <p:cNvSpPr txBox="1"/>
          <p:nvPr/>
        </p:nvSpPr>
        <p:spPr>
          <a:xfrm>
            <a:off x="13037317" y="5635202"/>
            <a:ext cx="24909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Scalable  where land issues persist</a:t>
            </a:r>
            <a:endParaRPr/>
          </a:p>
        </p:txBody>
      </p:sp>
      <p:grpSp>
        <p:nvGrpSpPr>
          <p:cNvPr id="241" name="Google Shape;241;p8"/>
          <p:cNvGrpSpPr/>
          <p:nvPr/>
        </p:nvGrpSpPr>
        <p:grpSpPr>
          <a:xfrm>
            <a:off x="12598650" y="3360225"/>
            <a:ext cx="2094217" cy="2051805"/>
            <a:chOff x="0" y="0"/>
            <a:chExt cx="812800" cy="812800"/>
          </a:xfrm>
        </p:grpSpPr>
        <p:sp>
          <p:nvSpPr>
            <p:cNvPr id="242" name="Google Shape;242;p8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DC2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" name="Google Shape;243;p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4" name="Google Shape;244;p8"/>
          <p:cNvSpPr txBox="1"/>
          <p:nvPr/>
        </p:nvSpPr>
        <p:spPr>
          <a:xfrm>
            <a:off x="12944495" y="3716754"/>
            <a:ext cx="1650206" cy="14352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30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4</a:t>
            </a:r>
            <a:endParaRPr sz="8304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pic>
        <p:nvPicPr>
          <p:cNvPr id="245" name="Google Shape;245;p8"/>
          <p:cNvPicPr preferRelativeResize="0"/>
          <p:nvPr/>
        </p:nvPicPr>
        <p:blipFill rotWithShape="1">
          <a:blip r:embed="rId3">
            <a:alphaModFix/>
          </a:blip>
          <a:srcRect b="17852" l="14339" r="13661" t="0"/>
          <a:stretch/>
        </p:blipFill>
        <p:spPr>
          <a:xfrm>
            <a:off x="15858836" y="-162774"/>
            <a:ext cx="1935500" cy="22083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0" name="Google Shape;250;p9"/>
          <p:cNvGrpSpPr/>
          <p:nvPr/>
        </p:nvGrpSpPr>
        <p:grpSpPr>
          <a:xfrm>
            <a:off x="1028700" y="2784624"/>
            <a:ext cx="450850" cy="4536926"/>
            <a:chOff x="0" y="-47625"/>
            <a:chExt cx="118742" cy="1194911"/>
          </a:xfrm>
        </p:grpSpPr>
        <p:sp>
          <p:nvSpPr>
            <p:cNvPr id="251" name="Google Shape;251;p9"/>
            <p:cNvSpPr/>
            <p:nvPr/>
          </p:nvSpPr>
          <p:spPr>
            <a:xfrm>
              <a:off x="0" y="0"/>
              <a:ext cx="118742" cy="1147286"/>
            </a:xfrm>
            <a:custGeom>
              <a:rect b="b" l="l" r="r" t="t"/>
              <a:pathLst>
                <a:path extrusionOk="0" h="1147286" w="118742">
                  <a:moveTo>
                    <a:pt x="0" y="0"/>
                  </a:moveTo>
                  <a:lnTo>
                    <a:pt x="118742" y="0"/>
                  </a:lnTo>
                  <a:lnTo>
                    <a:pt x="118742" y="1147286"/>
                  </a:lnTo>
                  <a:lnTo>
                    <a:pt x="0" y="1147286"/>
                  </a:lnTo>
                  <a:close/>
                </a:path>
              </a:pathLst>
            </a:custGeom>
            <a:solidFill>
              <a:srgbClr val="EDC254"/>
            </a:solidFill>
            <a:ln>
              <a:noFill/>
            </a:ln>
          </p:spPr>
        </p:sp>
        <p:sp>
          <p:nvSpPr>
            <p:cNvPr id="252" name="Google Shape;252;p9"/>
            <p:cNvSpPr txBox="1"/>
            <p:nvPr/>
          </p:nvSpPr>
          <p:spPr>
            <a:xfrm>
              <a:off x="0" y="-47625"/>
              <a:ext cx="118742" cy="119491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3" name="Google Shape;253;p9"/>
          <p:cNvSpPr/>
          <p:nvPr/>
        </p:nvSpPr>
        <p:spPr>
          <a:xfrm>
            <a:off x="9448800" y="1111231"/>
            <a:ext cx="7490000" cy="7613670"/>
          </a:xfrm>
          <a:custGeom>
            <a:rect b="b" l="l" r="r" t="t"/>
            <a:pathLst>
              <a:path extrusionOk="0" h="8064541" w="9015239">
                <a:moveTo>
                  <a:pt x="0" y="0"/>
                </a:moveTo>
                <a:lnTo>
                  <a:pt x="9015239" y="0"/>
                </a:lnTo>
                <a:lnTo>
                  <a:pt x="9015239" y="8064540"/>
                </a:lnTo>
                <a:lnTo>
                  <a:pt x="0" y="80645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4" name="Google Shape;254;p9"/>
          <p:cNvSpPr txBox="1"/>
          <p:nvPr/>
        </p:nvSpPr>
        <p:spPr>
          <a:xfrm>
            <a:off x="1790700" y="705934"/>
            <a:ext cx="4845595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Business Model</a:t>
            </a:r>
            <a:endParaRPr sz="4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" name="Google Shape;255;p9"/>
          <p:cNvSpPr txBox="1"/>
          <p:nvPr/>
        </p:nvSpPr>
        <p:spPr>
          <a:xfrm>
            <a:off x="2667000" y="2400300"/>
            <a:ext cx="4845600" cy="430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79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Transaction fees on land sales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API licensing  e.g.  banks</a:t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94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❑"/>
            </a:pP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B2G contracts for land digitization</a:t>
            </a:r>
            <a:endParaRPr/>
          </a:p>
        </p:txBody>
      </p:sp>
      <p:pic>
        <p:nvPicPr>
          <p:cNvPr id="256" name="Google Shape;256;p9"/>
          <p:cNvPicPr preferRelativeResize="0"/>
          <p:nvPr/>
        </p:nvPicPr>
        <p:blipFill rotWithShape="1">
          <a:blip r:embed="rId4">
            <a:alphaModFix/>
          </a:blip>
          <a:srcRect b="17852" l="14339" r="13661" t="0"/>
          <a:stretch/>
        </p:blipFill>
        <p:spPr>
          <a:xfrm>
            <a:off x="16395009" y="-199577"/>
            <a:ext cx="1587296" cy="18110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0"/>
          <p:cNvSpPr/>
          <p:nvPr/>
        </p:nvSpPr>
        <p:spPr>
          <a:xfrm>
            <a:off x="15452997" y="8991099"/>
            <a:ext cx="1878686" cy="469671"/>
          </a:xfrm>
          <a:custGeom>
            <a:rect b="b" l="l" r="r" t="t"/>
            <a:pathLst>
              <a:path extrusionOk="0" h="469671" w="1878686">
                <a:moveTo>
                  <a:pt x="0" y="0"/>
                </a:moveTo>
                <a:lnTo>
                  <a:pt x="1878686" y="0"/>
                </a:lnTo>
                <a:lnTo>
                  <a:pt x="1878686" y="469672"/>
                </a:lnTo>
                <a:lnTo>
                  <a:pt x="0" y="4696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62" name="Google Shape;262;p10"/>
          <p:cNvGrpSpPr/>
          <p:nvPr/>
        </p:nvGrpSpPr>
        <p:grpSpPr>
          <a:xfrm>
            <a:off x="0" y="1036994"/>
            <a:ext cx="4641850" cy="880391"/>
            <a:chOff x="0" y="-47625"/>
            <a:chExt cx="1222545" cy="231873"/>
          </a:xfrm>
        </p:grpSpPr>
        <p:sp>
          <p:nvSpPr>
            <p:cNvPr id="263" name="Google Shape;263;p10"/>
            <p:cNvSpPr/>
            <p:nvPr/>
          </p:nvSpPr>
          <p:spPr>
            <a:xfrm>
              <a:off x="0" y="0"/>
              <a:ext cx="1222545" cy="184248"/>
            </a:xfrm>
            <a:custGeom>
              <a:rect b="b" l="l" r="r" t="t"/>
              <a:pathLst>
                <a:path extrusionOk="0" h="184248" w="1222545">
                  <a:moveTo>
                    <a:pt x="0" y="0"/>
                  </a:moveTo>
                  <a:lnTo>
                    <a:pt x="1222545" y="0"/>
                  </a:lnTo>
                  <a:lnTo>
                    <a:pt x="1222545" y="184248"/>
                  </a:lnTo>
                  <a:lnTo>
                    <a:pt x="0" y="184248"/>
                  </a:lnTo>
                  <a:close/>
                </a:path>
              </a:pathLst>
            </a:custGeom>
            <a:solidFill>
              <a:srgbClr val="EDC254"/>
            </a:solidFill>
            <a:ln>
              <a:noFill/>
            </a:ln>
          </p:spPr>
        </p:sp>
        <p:sp>
          <p:nvSpPr>
            <p:cNvPr id="264" name="Google Shape;264;p10"/>
            <p:cNvSpPr txBox="1"/>
            <p:nvPr/>
          </p:nvSpPr>
          <p:spPr>
            <a:xfrm>
              <a:off x="0" y="-47625"/>
              <a:ext cx="1222545" cy="2318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5" name="Google Shape;265;p10"/>
          <p:cNvSpPr txBox="1"/>
          <p:nvPr/>
        </p:nvSpPr>
        <p:spPr>
          <a:xfrm>
            <a:off x="5926615" y="1559990"/>
            <a:ext cx="6434770" cy="9925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7537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Competitive Landscape</a:t>
            </a:r>
            <a:endParaRPr sz="6013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grpSp>
        <p:nvGrpSpPr>
          <p:cNvPr id="266" name="Google Shape;266;p10"/>
          <p:cNvGrpSpPr/>
          <p:nvPr/>
        </p:nvGrpSpPr>
        <p:grpSpPr>
          <a:xfrm>
            <a:off x="13646150" y="1036994"/>
            <a:ext cx="4641850" cy="880391"/>
            <a:chOff x="0" y="-47625"/>
            <a:chExt cx="1222545" cy="231873"/>
          </a:xfrm>
        </p:grpSpPr>
        <p:sp>
          <p:nvSpPr>
            <p:cNvPr id="267" name="Google Shape;267;p10"/>
            <p:cNvSpPr/>
            <p:nvPr/>
          </p:nvSpPr>
          <p:spPr>
            <a:xfrm>
              <a:off x="0" y="0"/>
              <a:ext cx="1222545" cy="184248"/>
            </a:xfrm>
            <a:custGeom>
              <a:rect b="b" l="l" r="r" t="t"/>
              <a:pathLst>
                <a:path extrusionOk="0" h="184248" w="1222545">
                  <a:moveTo>
                    <a:pt x="0" y="0"/>
                  </a:moveTo>
                  <a:lnTo>
                    <a:pt x="1222545" y="0"/>
                  </a:lnTo>
                  <a:lnTo>
                    <a:pt x="1222545" y="184248"/>
                  </a:lnTo>
                  <a:lnTo>
                    <a:pt x="0" y="184248"/>
                  </a:lnTo>
                  <a:close/>
                </a:path>
              </a:pathLst>
            </a:custGeom>
            <a:solidFill>
              <a:srgbClr val="EDC254"/>
            </a:solidFill>
            <a:ln>
              <a:noFill/>
            </a:ln>
          </p:spPr>
        </p:sp>
        <p:sp>
          <p:nvSpPr>
            <p:cNvPr id="268" name="Google Shape;268;p10"/>
            <p:cNvSpPr txBox="1"/>
            <p:nvPr/>
          </p:nvSpPr>
          <p:spPr>
            <a:xfrm>
              <a:off x="0" y="-47625"/>
              <a:ext cx="1222545" cy="2318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aphicFrame>
        <p:nvGraphicFramePr>
          <p:cNvPr id="269" name="Google Shape;269;p10"/>
          <p:cNvGraphicFramePr/>
          <p:nvPr/>
        </p:nvGraphicFramePr>
        <p:xfrm>
          <a:off x="990600" y="2777570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{14762664-C4F2-48BB-908C-5CB489170B13}</a:tableStyleId>
              </a:tblPr>
              <a:tblGrid>
                <a:gridCol w="2654300"/>
                <a:gridCol w="2654300"/>
                <a:gridCol w="2654300"/>
                <a:gridCol w="2654300"/>
                <a:gridCol w="2654300"/>
                <a:gridCol w="2654300"/>
              </a:tblGrid>
              <a:tr h="118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Platform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Geography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Marketplace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NFT Land Proof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GPS Mapping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Dispute Resolution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1183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LandGuard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Malawi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Yes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Yes (ERC-1155)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Yes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Yes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1010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Bitland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Ghana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No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Yes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Partial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No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1010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Seso Global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Nigeria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Yes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No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No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No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  <a:tr h="1010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Ubitquity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Global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No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Yes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No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Calibri"/>
                        <a:buNone/>
                      </a:pPr>
                      <a:r>
                        <a:rPr lang="en-US" sz="2800" u="none" cap="none" strike="noStrike"/>
                        <a:t>No</a:t>
                      </a:r>
                      <a:endParaRPr sz="28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8575" marL="68575"/>
                </a:tc>
              </a:tr>
            </a:tbl>
          </a:graphicData>
        </a:graphic>
      </p:graphicFrame>
      <p:pic>
        <p:nvPicPr>
          <p:cNvPr id="270" name="Google Shape;270;p10"/>
          <p:cNvPicPr preferRelativeResize="0"/>
          <p:nvPr/>
        </p:nvPicPr>
        <p:blipFill rotWithShape="1">
          <a:blip r:embed="rId4">
            <a:alphaModFix/>
          </a:blip>
          <a:srcRect b="17852" l="14339" r="13661" t="0"/>
          <a:stretch/>
        </p:blipFill>
        <p:spPr>
          <a:xfrm>
            <a:off x="8223651" y="-182754"/>
            <a:ext cx="1840697" cy="210013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11"/>
          <p:cNvSpPr/>
          <p:nvPr/>
        </p:nvSpPr>
        <p:spPr>
          <a:xfrm>
            <a:off x="628450" y="2741963"/>
            <a:ext cx="2433070" cy="2432717"/>
          </a:xfrm>
          <a:custGeom>
            <a:rect b="b" l="l" r="r" t="t"/>
            <a:pathLst>
              <a:path extrusionOk="0" h="6539573" w="6540525">
                <a:moveTo>
                  <a:pt x="5684545" y="1101865"/>
                </a:moveTo>
                <a:cubicBezTo>
                  <a:pt x="5560364" y="886829"/>
                  <a:pt x="5335181" y="766521"/>
                  <a:pt x="5103533" y="766356"/>
                </a:cubicBezTo>
                <a:lnTo>
                  <a:pt x="5103571" y="766318"/>
                </a:lnTo>
                <a:cubicBezTo>
                  <a:pt x="4871923" y="766115"/>
                  <a:pt x="4646701" y="645821"/>
                  <a:pt x="4522559" y="430810"/>
                </a:cubicBezTo>
                <a:cubicBezTo>
                  <a:pt x="4337317" y="109919"/>
                  <a:pt x="3927030" y="0"/>
                  <a:pt x="3606140" y="185281"/>
                </a:cubicBezTo>
                <a:lnTo>
                  <a:pt x="3606089" y="185319"/>
                </a:lnTo>
                <a:lnTo>
                  <a:pt x="3606089" y="185115"/>
                </a:lnTo>
                <a:cubicBezTo>
                  <a:pt x="3406788" y="299936"/>
                  <a:pt x="3153854" y="309029"/>
                  <a:pt x="2939771" y="187630"/>
                </a:cubicBezTo>
                <a:cubicBezTo>
                  <a:pt x="2836743" y="126902"/>
                  <a:pt x="2719296" y="94958"/>
                  <a:pt x="2599703" y="95136"/>
                </a:cubicBezTo>
                <a:cubicBezTo>
                  <a:pt x="2351405" y="95136"/>
                  <a:pt x="2134641" y="230048"/>
                  <a:pt x="2018614" y="430568"/>
                </a:cubicBezTo>
                <a:lnTo>
                  <a:pt x="2018614" y="430530"/>
                </a:lnTo>
                <a:cubicBezTo>
                  <a:pt x="1902625" y="631012"/>
                  <a:pt x="1685811" y="765925"/>
                  <a:pt x="1437551" y="765925"/>
                </a:cubicBezTo>
                <a:cubicBezTo>
                  <a:pt x="1067029" y="765925"/>
                  <a:pt x="766686" y="1066267"/>
                  <a:pt x="766686" y="1436789"/>
                </a:cubicBezTo>
                <a:lnTo>
                  <a:pt x="766686" y="1436866"/>
                </a:lnTo>
                <a:lnTo>
                  <a:pt x="766483" y="1436789"/>
                </a:lnTo>
                <a:cubicBezTo>
                  <a:pt x="766280" y="1666672"/>
                  <a:pt x="647802" y="1890154"/>
                  <a:pt x="435902" y="2014906"/>
                </a:cubicBezTo>
                <a:cubicBezTo>
                  <a:pt x="331646" y="2073744"/>
                  <a:pt x="245134" y="2159541"/>
                  <a:pt x="185433" y="2263305"/>
                </a:cubicBezTo>
                <a:cubicBezTo>
                  <a:pt x="61277" y="2478367"/>
                  <a:pt x="69723" y="2733523"/>
                  <a:pt x="185395" y="2934246"/>
                </a:cubicBezTo>
                <a:lnTo>
                  <a:pt x="185357" y="2934246"/>
                </a:lnTo>
                <a:cubicBezTo>
                  <a:pt x="300939" y="3134932"/>
                  <a:pt x="309385" y="3390113"/>
                  <a:pt x="185230" y="3605149"/>
                </a:cubicBezTo>
                <a:cubicBezTo>
                  <a:pt x="0" y="3926002"/>
                  <a:pt x="109906" y="4336288"/>
                  <a:pt x="430797" y="4521569"/>
                </a:cubicBezTo>
                <a:lnTo>
                  <a:pt x="430835" y="4521607"/>
                </a:lnTo>
                <a:lnTo>
                  <a:pt x="430708" y="4521695"/>
                </a:lnTo>
                <a:cubicBezTo>
                  <a:pt x="631228" y="4637634"/>
                  <a:pt x="766077" y="4854448"/>
                  <a:pt x="766077" y="5102746"/>
                </a:cubicBezTo>
                <a:cubicBezTo>
                  <a:pt x="766077" y="5473268"/>
                  <a:pt x="1066419" y="5773611"/>
                  <a:pt x="1436929" y="5773611"/>
                </a:cubicBezTo>
                <a:cubicBezTo>
                  <a:pt x="1685239" y="5773611"/>
                  <a:pt x="1901965" y="5908497"/>
                  <a:pt x="2018030" y="6109018"/>
                </a:cubicBezTo>
                <a:cubicBezTo>
                  <a:pt x="2134019" y="6309449"/>
                  <a:pt x="2350821" y="6444425"/>
                  <a:pt x="2599093" y="6444425"/>
                </a:cubicBezTo>
                <a:cubicBezTo>
                  <a:pt x="2718685" y="6444579"/>
                  <a:pt x="2836127" y="6412633"/>
                  <a:pt x="2939161" y="6351918"/>
                </a:cubicBezTo>
                <a:cubicBezTo>
                  <a:pt x="3153194" y="6230544"/>
                  <a:pt x="3406191" y="6239637"/>
                  <a:pt x="3605479" y="6354496"/>
                </a:cubicBezTo>
                <a:lnTo>
                  <a:pt x="3605479" y="6354255"/>
                </a:lnTo>
                <a:lnTo>
                  <a:pt x="3605517" y="6354331"/>
                </a:lnTo>
                <a:cubicBezTo>
                  <a:pt x="3926408" y="6539573"/>
                  <a:pt x="4336694" y="6429617"/>
                  <a:pt x="4521987" y="6108764"/>
                </a:cubicBezTo>
                <a:cubicBezTo>
                  <a:pt x="4646130" y="5893766"/>
                  <a:pt x="4871314" y="5773446"/>
                  <a:pt x="5102961" y="5773281"/>
                </a:cubicBezTo>
                <a:lnTo>
                  <a:pt x="5102911" y="5773192"/>
                </a:lnTo>
                <a:cubicBezTo>
                  <a:pt x="5334558" y="5773027"/>
                  <a:pt x="5559780" y="5652707"/>
                  <a:pt x="5683885" y="5437709"/>
                </a:cubicBezTo>
                <a:cubicBezTo>
                  <a:pt x="5745010" y="5331855"/>
                  <a:pt x="5774017" y="5216234"/>
                  <a:pt x="5773890" y="5102213"/>
                </a:cubicBezTo>
                <a:lnTo>
                  <a:pt x="5773979" y="5102290"/>
                </a:lnTo>
                <a:cubicBezTo>
                  <a:pt x="5774182" y="4878846"/>
                  <a:pt x="5886145" y="4661358"/>
                  <a:pt x="6087059" y="4534828"/>
                </a:cubicBezTo>
                <a:cubicBezTo>
                  <a:pt x="6195364" y="4477881"/>
                  <a:pt x="6289357" y="4390620"/>
                  <a:pt x="6355029" y="4276866"/>
                </a:cubicBezTo>
                <a:cubicBezTo>
                  <a:pt x="6479222" y="4061753"/>
                  <a:pt x="6470777" y="3806572"/>
                  <a:pt x="6355118" y="3605886"/>
                </a:cubicBezTo>
                <a:lnTo>
                  <a:pt x="6355156" y="3605886"/>
                </a:lnTo>
                <a:cubicBezTo>
                  <a:pt x="6239535" y="3405201"/>
                  <a:pt x="6231077" y="3150020"/>
                  <a:pt x="6355245" y="2934971"/>
                </a:cubicBezTo>
                <a:cubicBezTo>
                  <a:pt x="6540525" y="2614080"/>
                  <a:pt x="6430568" y="2203832"/>
                  <a:pt x="6109677" y="2018552"/>
                </a:cubicBezTo>
                <a:lnTo>
                  <a:pt x="6109627" y="2018501"/>
                </a:lnTo>
                <a:lnTo>
                  <a:pt x="6109754" y="2018463"/>
                </a:lnTo>
                <a:cubicBezTo>
                  <a:pt x="5910847" y="1903375"/>
                  <a:pt x="5776557" y="1689088"/>
                  <a:pt x="5774436" y="1443267"/>
                </a:cubicBezTo>
                <a:cubicBezTo>
                  <a:pt x="5775604" y="1327265"/>
                  <a:pt x="5746686" y="1209536"/>
                  <a:pt x="5684545" y="1101865"/>
                </a:cubicBezTo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11"/>
          <p:cNvSpPr/>
          <p:nvPr/>
        </p:nvSpPr>
        <p:spPr>
          <a:xfrm>
            <a:off x="15452997" y="8991099"/>
            <a:ext cx="1878686" cy="469671"/>
          </a:xfrm>
          <a:custGeom>
            <a:rect b="b" l="l" r="r" t="t"/>
            <a:pathLst>
              <a:path extrusionOk="0" h="469671" w="1878686">
                <a:moveTo>
                  <a:pt x="0" y="0"/>
                </a:moveTo>
                <a:lnTo>
                  <a:pt x="1878686" y="0"/>
                </a:lnTo>
                <a:lnTo>
                  <a:pt x="1878686" y="469672"/>
                </a:lnTo>
                <a:lnTo>
                  <a:pt x="0" y="4696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40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77" name="Google Shape;277;p11"/>
          <p:cNvGrpSpPr/>
          <p:nvPr/>
        </p:nvGrpSpPr>
        <p:grpSpPr>
          <a:xfrm>
            <a:off x="0" y="1036994"/>
            <a:ext cx="4641850" cy="880391"/>
            <a:chOff x="0" y="-47625"/>
            <a:chExt cx="1222545" cy="231873"/>
          </a:xfrm>
        </p:grpSpPr>
        <p:sp>
          <p:nvSpPr>
            <p:cNvPr id="278" name="Google Shape;278;p11"/>
            <p:cNvSpPr/>
            <p:nvPr/>
          </p:nvSpPr>
          <p:spPr>
            <a:xfrm>
              <a:off x="0" y="0"/>
              <a:ext cx="1222545" cy="184248"/>
            </a:xfrm>
            <a:custGeom>
              <a:rect b="b" l="l" r="r" t="t"/>
              <a:pathLst>
                <a:path extrusionOk="0" h="184248" w="1222545">
                  <a:moveTo>
                    <a:pt x="0" y="0"/>
                  </a:moveTo>
                  <a:lnTo>
                    <a:pt x="1222545" y="0"/>
                  </a:lnTo>
                  <a:lnTo>
                    <a:pt x="1222545" y="184248"/>
                  </a:lnTo>
                  <a:lnTo>
                    <a:pt x="0" y="184248"/>
                  </a:lnTo>
                  <a:close/>
                </a:path>
              </a:pathLst>
            </a:custGeom>
            <a:solidFill>
              <a:srgbClr val="EDC254"/>
            </a:solidFill>
            <a:ln>
              <a:noFill/>
            </a:ln>
          </p:spPr>
        </p:sp>
        <p:sp>
          <p:nvSpPr>
            <p:cNvPr id="279" name="Google Shape;279;p11"/>
            <p:cNvSpPr txBox="1"/>
            <p:nvPr/>
          </p:nvSpPr>
          <p:spPr>
            <a:xfrm>
              <a:off x="0" y="-47625"/>
              <a:ext cx="1222545" cy="2318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0" name="Google Shape;280;p11"/>
          <p:cNvSpPr txBox="1"/>
          <p:nvPr/>
        </p:nvSpPr>
        <p:spPr>
          <a:xfrm>
            <a:off x="5881534" y="1078882"/>
            <a:ext cx="6434770" cy="10392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13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TEAM</a:t>
            </a:r>
            <a:endParaRPr sz="6013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grpSp>
        <p:nvGrpSpPr>
          <p:cNvPr id="281" name="Google Shape;281;p11"/>
          <p:cNvGrpSpPr/>
          <p:nvPr/>
        </p:nvGrpSpPr>
        <p:grpSpPr>
          <a:xfrm>
            <a:off x="13646150" y="1036994"/>
            <a:ext cx="4641850" cy="880391"/>
            <a:chOff x="0" y="-47625"/>
            <a:chExt cx="1222545" cy="231873"/>
          </a:xfrm>
        </p:grpSpPr>
        <p:sp>
          <p:nvSpPr>
            <p:cNvPr id="282" name="Google Shape;282;p11"/>
            <p:cNvSpPr/>
            <p:nvPr/>
          </p:nvSpPr>
          <p:spPr>
            <a:xfrm>
              <a:off x="0" y="0"/>
              <a:ext cx="1222545" cy="184248"/>
            </a:xfrm>
            <a:custGeom>
              <a:rect b="b" l="l" r="r" t="t"/>
              <a:pathLst>
                <a:path extrusionOk="0" h="184248" w="1222545">
                  <a:moveTo>
                    <a:pt x="0" y="0"/>
                  </a:moveTo>
                  <a:lnTo>
                    <a:pt x="1222545" y="0"/>
                  </a:lnTo>
                  <a:lnTo>
                    <a:pt x="1222545" y="184248"/>
                  </a:lnTo>
                  <a:lnTo>
                    <a:pt x="0" y="184248"/>
                  </a:lnTo>
                  <a:close/>
                </a:path>
              </a:pathLst>
            </a:custGeom>
            <a:solidFill>
              <a:srgbClr val="EDC254"/>
            </a:solidFill>
            <a:ln>
              <a:noFill/>
            </a:ln>
          </p:spPr>
        </p:sp>
        <p:sp>
          <p:nvSpPr>
            <p:cNvPr id="283" name="Google Shape;283;p11"/>
            <p:cNvSpPr txBox="1"/>
            <p:nvPr/>
          </p:nvSpPr>
          <p:spPr>
            <a:xfrm>
              <a:off x="0" y="-47625"/>
              <a:ext cx="1222545" cy="2318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4" name="Google Shape;284;p11"/>
          <p:cNvSpPr/>
          <p:nvPr/>
        </p:nvSpPr>
        <p:spPr>
          <a:xfrm>
            <a:off x="418652" y="7071068"/>
            <a:ext cx="2433070" cy="2432717"/>
          </a:xfrm>
          <a:custGeom>
            <a:rect b="b" l="l" r="r" t="t"/>
            <a:pathLst>
              <a:path extrusionOk="0" h="6539573" w="6540525">
                <a:moveTo>
                  <a:pt x="5684545" y="1101865"/>
                </a:moveTo>
                <a:cubicBezTo>
                  <a:pt x="5560364" y="886829"/>
                  <a:pt x="5335181" y="766521"/>
                  <a:pt x="5103533" y="766356"/>
                </a:cubicBezTo>
                <a:lnTo>
                  <a:pt x="5103571" y="766318"/>
                </a:lnTo>
                <a:cubicBezTo>
                  <a:pt x="4871923" y="766115"/>
                  <a:pt x="4646701" y="645821"/>
                  <a:pt x="4522559" y="430810"/>
                </a:cubicBezTo>
                <a:cubicBezTo>
                  <a:pt x="4337317" y="109919"/>
                  <a:pt x="3927030" y="0"/>
                  <a:pt x="3606140" y="185281"/>
                </a:cubicBezTo>
                <a:lnTo>
                  <a:pt x="3606089" y="185319"/>
                </a:lnTo>
                <a:lnTo>
                  <a:pt x="3606089" y="185115"/>
                </a:lnTo>
                <a:cubicBezTo>
                  <a:pt x="3406788" y="299936"/>
                  <a:pt x="3153854" y="309029"/>
                  <a:pt x="2939771" y="187630"/>
                </a:cubicBezTo>
                <a:cubicBezTo>
                  <a:pt x="2836743" y="126902"/>
                  <a:pt x="2719296" y="94958"/>
                  <a:pt x="2599703" y="95136"/>
                </a:cubicBezTo>
                <a:cubicBezTo>
                  <a:pt x="2351405" y="95136"/>
                  <a:pt x="2134641" y="230048"/>
                  <a:pt x="2018614" y="430568"/>
                </a:cubicBezTo>
                <a:lnTo>
                  <a:pt x="2018614" y="430530"/>
                </a:lnTo>
                <a:cubicBezTo>
                  <a:pt x="1902625" y="631012"/>
                  <a:pt x="1685811" y="765925"/>
                  <a:pt x="1437551" y="765925"/>
                </a:cubicBezTo>
                <a:cubicBezTo>
                  <a:pt x="1067029" y="765925"/>
                  <a:pt x="766686" y="1066267"/>
                  <a:pt x="766686" y="1436789"/>
                </a:cubicBezTo>
                <a:lnTo>
                  <a:pt x="766686" y="1436866"/>
                </a:lnTo>
                <a:lnTo>
                  <a:pt x="766483" y="1436789"/>
                </a:lnTo>
                <a:cubicBezTo>
                  <a:pt x="766280" y="1666672"/>
                  <a:pt x="647802" y="1890154"/>
                  <a:pt x="435902" y="2014906"/>
                </a:cubicBezTo>
                <a:cubicBezTo>
                  <a:pt x="331646" y="2073744"/>
                  <a:pt x="245134" y="2159541"/>
                  <a:pt x="185433" y="2263305"/>
                </a:cubicBezTo>
                <a:cubicBezTo>
                  <a:pt x="61277" y="2478367"/>
                  <a:pt x="69723" y="2733523"/>
                  <a:pt x="185395" y="2934246"/>
                </a:cubicBezTo>
                <a:lnTo>
                  <a:pt x="185357" y="2934246"/>
                </a:lnTo>
                <a:cubicBezTo>
                  <a:pt x="300939" y="3134932"/>
                  <a:pt x="309385" y="3390113"/>
                  <a:pt x="185230" y="3605149"/>
                </a:cubicBezTo>
                <a:cubicBezTo>
                  <a:pt x="0" y="3926002"/>
                  <a:pt x="109906" y="4336288"/>
                  <a:pt x="430797" y="4521569"/>
                </a:cubicBezTo>
                <a:lnTo>
                  <a:pt x="430835" y="4521607"/>
                </a:lnTo>
                <a:lnTo>
                  <a:pt x="430708" y="4521695"/>
                </a:lnTo>
                <a:cubicBezTo>
                  <a:pt x="631228" y="4637634"/>
                  <a:pt x="766077" y="4854448"/>
                  <a:pt x="766077" y="5102746"/>
                </a:cubicBezTo>
                <a:cubicBezTo>
                  <a:pt x="766077" y="5473268"/>
                  <a:pt x="1066419" y="5773611"/>
                  <a:pt x="1436929" y="5773611"/>
                </a:cubicBezTo>
                <a:cubicBezTo>
                  <a:pt x="1685239" y="5773611"/>
                  <a:pt x="1901965" y="5908497"/>
                  <a:pt x="2018030" y="6109018"/>
                </a:cubicBezTo>
                <a:cubicBezTo>
                  <a:pt x="2134019" y="6309449"/>
                  <a:pt x="2350821" y="6444425"/>
                  <a:pt x="2599093" y="6444425"/>
                </a:cubicBezTo>
                <a:cubicBezTo>
                  <a:pt x="2718685" y="6444579"/>
                  <a:pt x="2836127" y="6412633"/>
                  <a:pt x="2939161" y="6351918"/>
                </a:cubicBezTo>
                <a:cubicBezTo>
                  <a:pt x="3153194" y="6230544"/>
                  <a:pt x="3406191" y="6239637"/>
                  <a:pt x="3605479" y="6354496"/>
                </a:cubicBezTo>
                <a:lnTo>
                  <a:pt x="3605479" y="6354255"/>
                </a:lnTo>
                <a:lnTo>
                  <a:pt x="3605517" y="6354331"/>
                </a:lnTo>
                <a:cubicBezTo>
                  <a:pt x="3926408" y="6539573"/>
                  <a:pt x="4336694" y="6429617"/>
                  <a:pt x="4521987" y="6108764"/>
                </a:cubicBezTo>
                <a:cubicBezTo>
                  <a:pt x="4646130" y="5893766"/>
                  <a:pt x="4871314" y="5773446"/>
                  <a:pt x="5102961" y="5773281"/>
                </a:cubicBezTo>
                <a:lnTo>
                  <a:pt x="5102911" y="5773192"/>
                </a:lnTo>
                <a:cubicBezTo>
                  <a:pt x="5334558" y="5773027"/>
                  <a:pt x="5559780" y="5652707"/>
                  <a:pt x="5683885" y="5437709"/>
                </a:cubicBezTo>
                <a:cubicBezTo>
                  <a:pt x="5745010" y="5331855"/>
                  <a:pt x="5774017" y="5216234"/>
                  <a:pt x="5773890" y="5102213"/>
                </a:cubicBezTo>
                <a:lnTo>
                  <a:pt x="5773979" y="5102290"/>
                </a:lnTo>
                <a:cubicBezTo>
                  <a:pt x="5774182" y="4878846"/>
                  <a:pt x="5886145" y="4661358"/>
                  <a:pt x="6087059" y="4534828"/>
                </a:cubicBezTo>
                <a:cubicBezTo>
                  <a:pt x="6195364" y="4477881"/>
                  <a:pt x="6289357" y="4390620"/>
                  <a:pt x="6355029" y="4276866"/>
                </a:cubicBezTo>
                <a:cubicBezTo>
                  <a:pt x="6479222" y="4061753"/>
                  <a:pt x="6470777" y="3806572"/>
                  <a:pt x="6355118" y="3605886"/>
                </a:cubicBezTo>
                <a:lnTo>
                  <a:pt x="6355156" y="3605886"/>
                </a:lnTo>
                <a:cubicBezTo>
                  <a:pt x="6239535" y="3405201"/>
                  <a:pt x="6231077" y="3150020"/>
                  <a:pt x="6355245" y="2934971"/>
                </a:cubicBezTo>
                <a:cubicBezTo>
                  <a:pt x="6540525" y="2614080"/>
                  <a:pt x="6430568" y="2203832"/>
                  <a:pt x="6109677" y="2018552"/>
                </a:cubicBezTo>
                <a:lnTo>
                  <a:pt x="6109627" y="2018501"/>
                </a:lnTo>
                <a:lnTo>
                  <a:pt x="6109754" y="2018463"/>
                </a:lnTo>
                <a:cubicBezTo>
                  <a:pt x="5910847" y="1903375"/>
                  <a:pt x="5776557" y="1689088"/>
                  <a:pt x="5774436" y="1443267"/>
                </a:cubicBezTo>
                <a:cubicBezTo>
                  <a:pt x="5775604" y="1327265"/>
                  <a:pt x="5746686" y="1209536"/>
                  <a:pt x="5684545" y="1101865"/>
                </a:cubicBezTo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1"/>
          <p:cNvSpPr/>
          <p:nvPr/>
        </p:nvSpPr>
        <p:spPr>
          <a:xfrm>
            <a:off x="14750542" y="3958323"/>
            <a:ext cx="2433070" cy="2432717"/>
          </a:xfrm>
          <a:custGeom>
            <a:rect b="b" l="l" r="r" t="t"/>
            <a:pathLst>
              <a:path extrusionOk="0" h="6539573" w="6540525">
                <a:moveTo>
                  <a:pt x="5684545" y="1101865"/>
                </a:moveTo>
                <a:cubicBezTo>
                  <a:pt x="5560364" y="886829"/>
                  <a:pt x="5335181" y="766521"/>
                  <a:pt x="5103533" y="766356"/>
                </a:cubicBezTo>
                <a:lnTo>
                  <a:pt x="5103571" y="766318"/>
                </a:lnTo>
                <a:cubicBezTo>
                  <a:pt x="4871923" y="766115"/>
                  <a:pt x="4646701" y="645821"/>
                  <a:pt x="4522559" y="430810"/>
                </a:cubicBezTo>
                <a:cubicBezTo>
                  <a:pt x="4337317" y="109919"/>
                  <a:pt x="3927030" y="0"/>
                  <a:pt x="3606140" y="185281"/>
                </a:cubicBezTo>
                <a:lnTo>
                  <a:pt x="3606089" y="185319"/>
                </a:lnTo>
                <a:lnTo>
                  <a:pt x="3606089" y="185115"/>
                </a:lnTo>
                <a:cubicBezTo>
                  <a:pt x="3406788" y="299936"/>
                  <a:pt x="3153854" y="309029"/>
                  <a:pt x="2939771" y="187630"/>
                </a:cubicBezTo>
                <a:cubicBezTo>
                  <a:pt x="2836743" y="126902"/>
                  <a:pt x="2719296" y="94958"/>
                  <a:pt x="2599703" y="95136"/>
                </a:cubicBezTo>
                <a:cubicBezTo>
                  <a:pt x="2351405" y="95136"/>
                  <a:pt x="2134641" y="230048"/>
                  <a:pt x="2018614" y="430568"/>
                </a:cubicBezTo>
                <a:lnTo>
                  <a:pt x="2018614" y="430530"/>
                </a:lnTo>
                <a:cubicBezTo>
                  <a:pt x="1902625" y="631012"/>
                  <a:pt x="1685811" y="765925"/>
                  <a:pt x="1437551" y="765925"/>
                </a:cubicBezTo>
                <a:cubicBezTo>
                  <a:pt x="1067029" y="765925"/>
                  <a:pt x="766686" y="1066267"/>
                  <a:pt x="766686" y="1436789"/>
                </a:cubicBezTo>
                <a:lnTo>
                  <a:pt x="766686" y="1436866"/>
                </a:lnTo>
                <a:lnTo>
                  <a:pt x="766483" y="1436789"/>
                </a:lnTo>
                <a:cubicBezTo>
                  <a:pt x="766280" y="1666672"/>
                  <a:pt x="647802" y="1890154"/>
                  <a:pt x="435902" y="2014906"/>
                </a:cubicBezTo>
                <a:cubicBezTo>
                  <a:pt x="331646" y="2073744"/>
                  <a:pt x="245134" y="2159541"/>
                  <a:pt x="185433" y="2263305"/>
                </a:cubicBezTo>
                <a:cubicBezTo>
                  <a:pt x="61277" y="2478367"/>
                  <a:pt x="69723" y="2733523"/>
                  <a:pt x="185395" y="2934246"/>
                </a:cubicBezTo>
                <a:lnTo>
                  <a:pt x="185357" y="2934246"/>
                </a:lnTo>
                <a:cubicBezTo>
                  <a:pt x="300939" y="3134932"/>
                  <a:pt x="309385" y="3390113"/>
                  <a:pt x="185230" y="3605149"/>
                </a:cubicBezTo>
                <a:cubicBezTo>
                  <a:pt x="0" y="3926002"/>
                  <a:pt x="109906" y="4336288"/>
                  <a:pt x="430797" y="4521569"/>
                </a:cubicBezTo>
                <a:lnTo>
                  <a:pt x="430835" y="4521607"/>
                </a:lnTo>
                <a:lnTo>
                  <a:pt x="430708" y="4521695"/>
                </a:lnTo>
                <a:cubicBezTo>
                  <a:pt x="631228" y="4637634"/>
                  <a:pt x="766077" y="4854448"/>
                  <a:pt x="766077" y="5102746"/>
                </a:cubicBezTo>
                <a:cubicBezTo>
                  <a:pt x="766077" y="5473268"/>
                  <a:pt x="1066419" y="5773611"/>
                  <a:pt x="1436929" y="5773611"/>
                </a:cubicBezTo>
                <a:cubicBezTo>
                  <a:pt x="1685239" y="5773611"/>
                  <a:pt x="1901965" y="5908497"/>
                  <a:pt x="2018030" y="6109018"/>
                </a:cubicBezTo>
                <a:cubicBezTo>
                  <a:pt x="2134019" y="6309449"/>
                  <a:pt x="2350821" y="6444425"/>
                  <a:pt x="2599093" y="6444425"/>
                </a:cubicBezTo>
                <a:cubicBezTo>
                  <a:pt x="2718685" y="6444579"/>
                  <a:pt x="2836127" y="6412633"/>
                  <a:pt x="2939161" y="6351918"/>
                </a:cubicBezTo>
                <a:cubicBezTo>
                  <a:pt x="3153194" y="6230544"/>
                  <a:pt x="3406191" y="6239637"/>
                  <a:pt x="3605479" y="6354496"/>
                </a:cubicBezTo>
                <a:lnTo>
                  <a:pt x="3605479" y="6354255"/>
                </a:lnTo>
                <a:lnTo>
                  <a:pt x="3605517" y="6354331"/>
                </a:lnTo>
                <a:cubicBezTo>
                  <a:pt x="3926408" y="6539573"/>
                  <a:pt x="4336694" y="6429617"/>
                  <a:pt x="4521987" y="6108764"/>
                </a:cubicBezTo>
                <a:cubicBezTo>
                  <a:pt x="4646130" y="5893766"/>
                  <a:pt x="4871314" y="5773446"/>
                  <a:pt x="5102961" y="5773281"/>
                </a:cubicBezTo>
                <a:lnTo>
                  <a:pt x="5102911" y="5773192"/>
                </a:lnTo>
                <a:cubicBezTo>
                  <a:pt x="5334558" y="5773027"/>
                  <a:pt x="5559780" y="5652707"/>
                  <a:pt x="5683885" y="5437709"/>
                </a:cubicBezTo>
                <a:cubicBezTo>
                  <a:pt x="5745010" y="5331855"/>
                  <a:pt x="5774017" y="5216234"/>
                  <a:pt x="5773890" y="5102213"/>
                </a:cubicBezTo>
                <a:lnTo>
                  <a:pt x="5773979" y="5102290"/>
                </a:lnTo>
                <a:cubicBezTo>
                  <a:pt x="5774182" y="4878846"/>
                  <a:pt x="5886145" y="4661358"/>
                  <a:pt x="6087059" y="4534828"/>
                </a:cubicBezTo>
                <a:cubicBezTo>
                  <a:pt x="6195364" y="4477881"/>
                  <a:pt x="6289357" y="4390620"/>
                  <a:pt x="6355029" y="4276866"/>
                </a:cubicBezTo>
                <a:cubicBezTo>
                  <a:pt x="6479222" y="4061753"/>
                  <a:pt x="6470777" y="3806572"/>
                  <a:pt x="6355118" y="3605886"/>
                </a:cubicBezTo>
                <a:lnTo>
                  <a:pt x="6355156" y="3605886"/>
                </a:lnTo>
                <a:cubicBezTo>
                  <a:pt x="6239535" y="3405201"/>
                  <a:pt x="6231077" y="3150020"/>
                  <a:pt x="6355245" y="2934971"/>
                </a:cubicBezTo>
                <a:cubicBezTo>
                  <a:pt x="6540525" y="2614080"/>
                  <a:pt x="6430568" y="2203832"/>
                  <a:pt x="6109677" y="2018552"/>
                </a:cubicBezTo>
                <a:lnTo>
                  <a:pt x="6109627" y="2018501"/>
                </a:lnTo>
                <a:lnTo>
                  <a:pt x="6109754" y="2018463"/>
                </a:lnTo>
                <a:cubicBezTo>
                  <a:pt x="5910847" y="1903375"/>
                  <a:pt x="5776557" y="1689088"/>
                  <a:pt x="5774436" y="1443267"/>
                </a:cubicBezTo>
                <a:cubicBezTo>
                  <a:pt x="5775604" y="1327265"/>
                  <a:pt x="5746686" y="1209536"/>
                  <a:pt x="5684545" y="1101865"/>
                </a:cubicBezTo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1"/>
          <p:cNvSpPr/>
          <p:nvPr/>
        </p:nvSpPr>
        <p:spPr>
          <a:xfrm>
            <a:off x="7976220" y="6937178"/>
            <a:ext cx="2433070" cy="2432717"/>
          </a:xfrm>
          <a:custGeom>
            <a:rect b="b" l="l" r="r" t="t"/>
            <a:pathLst>
              <a:path extrusionOk="0" h="6539573" w="6540525">
                <a:moveTo>
                  <a:pt x="5684545" y="1101865"/>
                </a:moveTo>
                <a:cubicBezTo>
                  <a:pt x="5560364" y="886829"/>
                  <a:pt x="5335181" y="766521"/>
                  <a:pt x="5103533" y="766356"/>
                </a:cubicBezTo>
                <a:lnTo>
                  <a:pt x="5103571" y="766318"/>
                </a:lnTo>
                <a:cubicBezTo>
                  <a:pt x="4871923" y="766115"/>
                  <a:pt x="4646701" y="645821"/>
                  <a:pt x="4522559" y="430810"/>
                </a:cubicBezTo>
                <a:cubicBezTo>
                  <a:pt x="4337317" y="109919"/>
                  <a:pt x="3927030" y="0"/>
                  <a:pt x="3606140" y="185281"/>
                </a:cubicBezTo>
                <a:lnTo>
                  <a:pt x="3606089" y="185319"/>
                </a:lnTo>
                <a:lnTo>
                  <a:pt x="3606089" y="185115"/>
                </a:lnTo>
                <a:cubicBezTo>
                  <a:pt x="3406788" y="299936"/>
                  <a:pt x="3153854" y="309029"/>
                  <a:pt x="2939771" y="187630"/>
                </a:cubicBezTo>
                <a:cubicBezTo>
                  <a:pt x="2836743" y="126902"/>
                  <a:pt x="2719296" y="94958"/>
                  <a:pt x="2599703" y="95136"/>
                </a:cubicBezTo>
                <a:cubicBezTo>
                  <a:pt x="2351405" y="95136"/>
                  <a:pt x="2134641" y="230048"/>
                  <a:pt x="2018614" y="430568"/>
                </a:cubicBezTo>
                <a:lnTo>
                  <a:pt x="2018614" y="430530"/>
                </a:lnTo>
                <a:cubicBezTo>
                  <a:pt x="1902625" y="631012"/>
                  <a:pt x="1685811" y="765925"/>
                  <a:pt x="1437551" y="765925"/>
                </a:cubicBezTo>
                <a:cubicBezTo>
                  <a:pt x="1067029" y="765925"/>
                  <a:pt x="766686" y="1066267"/>
                  <a:pt x="766686" y="1436789"/>
                </a:cubicBezTo>
                <a:lnTo>
                  <a:pt x="766686" y="1436866"/>
                </a:lnTo>
                <a:lnTo>
                  <a:pt x="766483" y="1436789"/>
                </a:lnTo>
                <a:cubicBezTo>
                  <a:pt x="766280" y="1666672"/>
                  <a:pt x="647802" y="1890154"/>
                  <a:pt x="435902" y="2014906"/>
                </a:cubicBezTo>
                <a:cubicBezTo>
                  <a:pt x="331646" y="2073744"/>
                  <a:pt x="245134" y="2159541"/>
                  <a:pt x="185433" y="2263305"/>
                </a:cubicBezTo>
                <a:cubicBezTo>
                  <a:pt x="61277" y="2478367"/>
                  <a:pt x="69723" y="2733523"/>
                  <a:pt x="185395" y="2934246"/>
                </a:cubicBezTo>
                <a:lnTo>
                  <a:pt x="185357" y="2934246"/>
                </a:lnTo>
                <a:cubicBezTo>
                  <a:pt x="300939" y="3134932"/>
                  <a:pt x="309385" y="3390113"/>
                  <a:pt x="185230" y="3605149"/>
                </a:cubicBezTo>
                <a:cubicBezTo>
                  <a:pt x="0" y="3926002"/>
                  <a:pt x="109906" y="4336288"/>
                  <a:pt x="430797" y="4521569"/>
                </a:cubicBezTo>
                <a:lnTo>
                  <a:pt x="430835" y="4521607"/>
                </a:lnTo>
                <a:lnTo>
                  <a:pt x="430708" y="4521695"/>
                </a:lnTo>
                <a:cubicBezTo>
                  <a:pt x="631228" y="4637634"/>
                  <a:pt x="766077" y="4854448"/>
                  <a:pt x="766077" y="5102746"/>
                </a:cubicBezTo>
                <a:cubicBezTo>
                  <a:pt x="766077" y="5473268"/>
                  <a:pt x="1066419" y="5773611"/>
                  <a:pt x="1436929" y="5773611"/>
                </a:cubicBezTo>
                <a:cubicBezTo>
                  <a:pt x="1685239" y="5773611"/>
                  <a:pt x="1901965" y="5908497"/>
                  <a:pt x="2018030" y="6109018"/>
                </a:cubicBezTo>
                <a:cubicBezTo>
                  <a:pt x="2134019" y="6309449"/>
                  <a:pt x="2350821" y="6444425"/>
                  <a:pt x="2599093" y="6444425"/>
                </a:cubicBezTo>
                <a:cubicBezTo>
                  <a:pt x="2718685" y="6444579"/>
                  <a:pt x="2836127" y="6412633"/>
                  <a:pt x="2939161" y="6351918"/>
                </a:cubicBezTo>
                <a:cubicBezTo>
                  <a:pt x="3153194" y="6230544"/>
                  <a:pt x="3406191" y="6239637"/>
                  <a:pt x="3605479" y="6354496"/>
                </a:cubicBezTo>
                <a:lnTo>
                  <a:pt x="3605479" y="6354255"/>
                </a:lnTo>
                <a:lnTo>
                  <a:pt x="3605517" y="6354331"/>
                </a:lnTo>
                <a:cubicBezTo>
                  <a:pt x="3926408" y="6539573"/>
                  <a:pt x="4336694" y="6429617"/>
                  <a:pt x="4521987" y="6108764"/>
                </a:cubicBezTo>
                <a:cubicBezTo>
                  <a:pt x="4646130" y="5893766"/>
                  <a:pt x="4871314" y="5773446"/>
                  <a:pt x="5102961" y="5773281"/>
                </a:cubicBezTo>
                <a:lnTo>
                  <a:pt x="5102911" y="5773192"/>
                </a:lnTo>
                <a:cubicBezTo>
                  <a:pt x="5334558" y="5773027"/>
                  <a:pt x="5559780" y="5652707"/>
                  <a:pt x="5683885" y="5437709"/>
                </a:cubicBezTo>
                <a:cubicBezTo>
                  <a:pt x="5745010" y="5331855"/>
                  <a:pt x="5774017" y="5216234"/>
                  <a:pt x="5773890" y="5102213"/>
                </a:cubicBezTo>
                <a:lnTo>
                  <a:pt x="5773979" y="5102290"/>
                </a:lnTo>
                <a:cubicBezTo>
                  <a:pt x="5774182" y="4878846"/>
                  <a:pt x="5886145" y="4661358"/>
                  <a:pt x="6087059" y="4534828"/>
                </a:cubicBezTo>
                <a:cubicBezTo>
                  <a:pt x="6195364" y="4477881"/>
                  <a:pt x="6289357" y="4390620"/>
                  <a:pt x="6355029" y="4276866"/>
                </a:cubicBezTo>
                <a:cubicBezTo>
                  <a:pt x="6479222" y="4061753"/>
                  <a:pt x="6470777" y="3806572"/>
                  <a:pt x="6355118" y="3605886"/>
                </a:cubicBezTo>
                <a:lnTo>
                  <a:pt x="6355156" y="3605886"/>
                </a:lnTo>
                <a:cubicBezTo>
                  <a:pt x="6239535" y="3405201"/>
                  <a:pt x="6231077" y="3150020"/>
                  <a:pt x="6355245" y="2934971"/>
                </a:cubicBezTo>
                <a:cubicBezTo>
                  <a:pt x="6540525" y="2614080"/>
                  <a:pt x="6430568" y="2203832"/>
                  <a:pt x="6109677" y="2018552"/>
                </a:cubicBezTo>
                <a:lnTo>
                  <a:pt x="6109627" y="2018501"/>
                </a:lnTo>
                <a:lnTo>
                  <a:pt x="6109754" y="2018463"/>
                </a:lnTo>
                <a:cubicBezTo>
                  <a:pt x="5910847" y="1903375"/>
                  <a:pt x="5776557" y="1689088"/>
                  <a:pt x="5774436" y="1443267"/>
                </a:cubicBezTo>
                <a:cubicBezTo>
                  <a:pt x="5775604" y="1327265"/>
                  <a:pt x="5746686" y="1209536"/>
                  <a:pt x="5684545" y="1101865"/>
                </a:cubicBezTo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11"/>
          <p:cNvSpPr/>
          <p:nvPr/>
        </p:nvSpPr>
        <p:spPr>
          <a:xfrm>
            <a:off x="7940783" y="2741964"/>
            <a:ext cx="2433070" cy="2432717"/>
          </a:xfrm>
          <a:custGeom>
            <a:rect b="b" l="l" r="r" t="t"/>
            <a:pathLst>
              <a:path extrusionOk="0" h="6539573" w="6540525">
                <a:moveTo>
                  <a:pt x="5684545" y="1101865"/>
                </a:moveTo>
                <a:cubicBezTo>
                  <a:pt x="5560364" y="886829"/>
                  <a:pt x="5335181" y="766521"/>
                  <a:pt x="5103533" y="766356"/>
                </a:cubicBezTo>
                <a:lnTo>
                  <a:pt x="5103571" y="766318"/>
                </a:lnTo>
                <a:cubicBezTo>
                  <a:pt x="4871923" y="766115"/>
                  <a:pt x="4646701" y="645821"/>
                  <a:pt x="4522559" y="430810"/>
                </a:cubicBezTo>
                <a:cubicBezTo>
                  <a:pt x="4337317" y="109919"/>
                  <a:pt x="3927030" y="0"/>
                  <a:pt x="3606140" y="185281"/>
                </a:cubicBezTo>
                <a:lnTo>
                  <a:pt x="3606089" y="185319"/>
                </a:lnTo>
                <a:lnTo>
                  <a:pt x="3606089" y="185115"/>
                </a:lnTo>
                <a:cubicBezTo>
                  <a:pt x="3406788" y="299936"/>
                  <a:pt x="3153854" y="309029"/>
                  <a:pt x="2939771" y="187630"/>
                </a:cubicBezTo>
                <a:cubicBezTo>
                  <a:pt x="2836743" y="126902"/>
                  <a:pt x="2719296" y="94958"/>
                  <a:pt x="2599703" y="95136"/>
                </a:cubicBezTo>
                <a:cubicBezTo>
                  <a:pt x="2351405" y="95136"/>
                  <a:pt x="2134641" y="230048"/>
                  <a:pt x="2018614" y="430568"/>
                </a:cubicBezTo>
                <a:lnTo>
                  <a:pt x="2018614" y="430530"/>
                </a:lnTo>
                <a:cubicBezTo>
                  <a:pt x="1902625" y="631012"/>
                  <a:pt x="1685811" y="765925"/>
                  <a:pt x="1437551" y="765925"/>
                </a:cubicBezTo>
                <a:cubicBezTo>
                  <a:pt x="1067029" y="765925"/>
                  <a:pt x="766686" y="1066267"/>
                  <a:pt x="766686" y="1436789"/>
                </a:cubicBezTo>
                <a:lnTo>
                  <a:pt x="766686" y="1436866"/>
                </a:lnTo>
                <a:lnTo>
                  <a:pt x="766483" y="1436789"/>
                </a:lnTo>
                <a:cubicBezTo>
                  <a:pt x="766280" y="1666672"/>
                  <a:pt x="647802" y="1890154"/>
                  <a:pt x="435902" y="2014906"/>
                </a:cubicBezTo>
                <a:cubicBezTo>
                  <a:pt x="331646" y="2073744"/>
                  <a:pt x="245134" y="2159541"/>
                  <a:pt x="185433" y="2263305"/>
                </a:cubicBezTo>
                <a:cubicBezTo>
                  <a:pt x="61277" y="2478367"/>
                  <a:pt x="69723" y="2733523"/>
                  <a:pt x="185395" y="2934246"/>
                </a:cubicBezTo>
                <a:lnTo>
                  <a:pt x="185357" y="2934246"/>
                </a:lnTo>
                <a:cubicBezTo>
                  <a:pt x="300939" y="3134932"/>
                  <a:pt x="309385" y="3390113"/>
                  <a:pt x="185230" y="3605149"/>
                </a:cubicBezTo>
                <a:cubicBezTo>
                  <a:pt x="0" y="3926002"/>
                  <a:pt x="109906" y="4336288"/>
                  <a:pt x="430797" y="4521569"/>
                </a:cubicBezTo>
                <a:lnTo>
                  <a:pt x="430835" y="4521607"/>
                </a:lnTo>
                <a:lnTo>
                  <a:pt x="430708" y="4521695"/>
                </a:lnTo>
                <a:cubicBezTo>
                  <a:pt x="631228" y="4637634"/>
                  <a:pt x="766077" y="4854448"/>
                  <a:pt x="766077" y="5102746"/>
                </a:cubicBezTo>
                <a:cubicBezTo>
                  <a:pt x="766077" y="5473268"/>
                  <a:pt x="1066419" y="5773611"/>
                  <a:pt x="1436929" y="5773611"/>
                </a:cubicBezTo>
                <a:cubicBezTo>
                  <a:pt x="1685239" y="5773611"/>
                  <a:pt x="1901965" y="5908497"/>
                  <a:pt x="2018030" y="6109018"/>
                </a:cubicBezTo>
                <a:cubicBezTo>
                  <a:pt x="2134019" y="6309449"/>
                  <a:pt x="2350821" y="6444425"/>
                  <a:pt x="2599093" y="6444425"/>
                </a:cubicBezTo>
                <a:cubicBezTo>
                  <a:pt x="2718685" y="6444579"/>
                  <a:pt x="2836127" y="6412633"/>
                  <a:pt x="2939161" y="6351918"/>
                </a:cubicBezTo>
                <a:cubicBezTo>
                  <a:pt x="3153194" y="6230544"/>
                  <a:pt x="3406191" y="6239637"/>
                  <a:pt x="3605479" y="6354496"/>
                </a:cubicBezTo>
                <a:lnTo>
                  <a:pt x="3605479" y="6354255"/>
                </a:lnTo>
                <a:lnTo>
                  <a:pt x="3605517" y="6354331"/>
                </a:lnTo>
                <a:cubicBezTo>
                  <a:pt x="3926408" y="6539573"/>
                  <a:pt x="4336694" y="6429617"/>
                  <a:pt x="4521987" y="6108764"/>
                </a:cubicBezTo>
                <a:cubicBezTo>
                  <a:pt x="4646130" y="5893766"/>
                  <a:pt x="4871314" y="5773446"/>
                  <a:pt x="5102961" y="5773281"/>
                </a:cubicBezTo>
                <a:lnTo>
                  <a:pt x="5102911" y="5773192"/>
                </a:lnTo>
                <a:cubicBezTo>
                  <a:pt x="5334558" y="5773027"/>
                  <a:pt x="5559780" y="5652707"/>
                  <a:pt x="5683885" y="5437709"/>
                </a:cubicBezTo>
                <a:cubicBezTo>
                  <a:pt x="5745010" y="5331855"/>
                  <a:pt x="5774017" y="5216234"/>
                  <a:pt x="5773890" y="5102213"/>
                </a:cubicBezTo>
                <a:lnTo>
                  <a:pt x="5773979" y="5102290"/>
                </a:lnTo>
                <a:cubicBezTo>
                  <a:pt x="5774182" y="4878846"/>
                  <a:pt x="5886145" y="4661358"/>
                  <a:pt x="6087059" y="4534828"/>
                </a:cubicBezTo>
                <a:cubicBezTo>
                  <a:pt x="6195364" y="4477881"/>
                  <a:pt x="6289357" y="4390620"/>
                  <a:pt x="6355029" y="4276866"/>
                </a:cubicBezTo>
                <a:cubicBezTo>
                  <a:pt x="6479222" y="4061753"/>
                  <a:pt x="6470777" y="3806572"/>
                  <a:pt x="6355118" y="3605886"/>
                </a:cubicBezTo>
                <a:lnTo>
                  <a:pt x="6355156" y="3605886"/>
                </a:lnTo>
                <a:cubicBezTo>
                  <a:pt x="6239535" y="3405201"/>
                  <a:pt x="6231077" y="3150020"/>
                  <a:pt x="6355245" y="2934971"/>
                </a:cubicBezTo>
                <a:cubicBezTo>
                  <a:pt x="6540525" y="2614080"/>
                  <a:pt x="6430568" y="2203832"/>
                  <a:pt x="6109677" y="2018552"/>
                </a:cubicBezTo>
                <a:lnTo>
                  <a:pt x="6109627" y="2018501"/>
                </a:lnTo>
                <a:lnTo>
                  <a:pt x="6109754" y="2018463"/>
                </a:lnTo>
                <a:cubicBezTo>
                  <a:pt x="5910847" y="1903375"/>
                  <a:pt x="5776557" y="1689088"/>
                  <a:pt x="5774436" y="1443267"/>
                </a:cubicBezTo>
                <a:cubicBezTo>
                  <a:pt x="5775604" y="1327265"/>
                  <a:pt x="5746686" y="1209536"/>
                  <a:pt x="5684545" y="1101865"/>
                </a:cubicBezTo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1"/>
          <p:cNvSpPr txBox="1"/>
          <p:nvPr/>
        </p:nvSpPr>
        <p:spPr>
          <a:xfrm>
            <a:off x="3414811" y="3358156"/>
            <a:ext cx="25809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Prince Nsusa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BSc ICT &amp; Mathematics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Chief Executive Officer</a:t>
            </a:r>
            <a:endParaRPr/>
          </a:p>
        </p:txBody>
      </p:sp>
      <p:sp>
        <p:nvSpPr>
          <p:cNvPr id="289" name="Google Shape;289;p11"/>
          <p:cNvSpPr txBox="1"/>
          <p:nvPr/>
        </p:nvSpPr>
        <p:spPr>
          <a:xfrm>
            <a:off x="14762648" y="6391040"/>
            <a:ext cx="33423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Christopher Manganyera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Marketing 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Officer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1"/>
          <p:cNvSpPr txBox="1"/>
          <p:nvPr/>
        </p:nvSpPr>
        <p:spPr>
          <a:xfrm>
            <a:off x="10861544" y="3111731"/>
            <a:ext cx="2483700" cy="169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Jeremiah Somela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Diploma in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Computer Science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Chief mark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eting Officer</a:t>
            </a:r>
            <a:endParaRPr/>
          </a:p>
        </p:txBody>
      </p:sp>
      <p:sp>
        <p:nvSpPr>
          <p:cNvPr id="291" name="Google Shape;291;p11"/>
          <p:cNvSpPr txBox="1"/>
          <p:nvPr/>
        </p:nvSpPr>
        <p:spPr>
          <a:xfrm>
            <a:off x="10644053" y="7489598"/>
            <a:ext cx="29187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Blessings Kapalamula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BSc Renewable Energy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Chief 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Technology Officer</a:t>
            </a:r>
            <a:endParaRPr/>
          </a:p>
        </p:txBody>
      </p:sp>
      <p:sp>
        <p:nvSpPr>
          <p:cNvPr id="292" name="Google Shape;292;p11"/>
          <p:cNvSpPr txBox="1"/>
          <p:nvPr/>
        </p:nvSpPr>
        <p:spPr>
          <a:xfrm>
            <a:off x="3473036" y="7825761"/>
            <a:ext cx="21228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Prisca Chifisi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BSc  Agriculture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Chief </a:t>
            </a: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Operations officer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7" name="Google Shape;297;p12"/>
          <p:cNvGrpSpPr/>
          <p:nvPr/>
        </p:nvGrpSpPr>
        <p:grpSpPr>
          <a:xfrm>
            <a:off x="1043054" y="876300"/>
            <a:ext cx="6046657" cy="8320365"/>
            <a:chOff x="0" y="0"/>
            <a:chExt cx="1854200" cy="2551430"/>
          </a:xfrm>
        </p:grpSpPr>
        <p:sp>
          <p:nvSpPr>
            <p:cNvPr id="298" name="Google Shape;298;p12"/>
            <p:cNvSpPr/>
            <p:nvPr/>
          </p:nvSpPr>
          <p:spPr>
            <a:xfrm>
              <a:off x="5080" y="41910"/>
              <a:ext cx="1849120" cy="2509520"/>
            </a:xfrm>
            <a:custGeom>
              <a:rect b="b" l="l" r="r" t="t"/>
              <a:pathLst>
                <a:path extrusionOk="0" h="2509520" w="1849120">
                  <a:moveTo>
                    <a:pt x="1849120" y="2509520"/>
                  </a:moveTo>
                  <a:lnTo>
                    <a:pt x="27940" y="2509520"/>
                  </a:lnTo>
                  <a:lnTo>
                    <a:pt x="0" y="2467610"/>
                  </a:lnTo>
                  <a:lnTo>
                    <a:pt x="27940" y="0"/>
                  </a:lnTo>
                  <a:lnTo>
                    <a:pt x="1849120" y="0"/>
                  </a:lnTo>
                  <a:close/>
                </a:path>
              </a:pathLst>
            </a:custGeom>
            <a:solidFill>
              <a:srgbClr val="EDC254"/>
            </a:solidFill>
            <a:ln>
              <a:noFill/>
            </a:ln>
          </p:spPr>
        </p:sp>
        <p:sp>
          <p:nvSpPr>
            <p:cNvPr id="299" name="Google Shape;299;p12"/>
            <p:cNvSpPr/>
            <p:nvPr/>
          </p:nvSpPr>
          <p:spPr>
            <a:xfrm>
              <a:off x="19050" y="15240"/>
              <a:ext cx="1823720" cy="2526030"/>
            </a:xfrm>
            <a:custGeom>
              <a:rect b="b" l="l" r="r" t="t"/>
              <a:pathLst>
                <a:path extrusionOk="0" h="2526030" w="1823720">
                  <a:moveTo>
                    <a:pt x="1823720" y="2526030"/>
                  </a:moveTo>
                  <a:lnTo>
                    <a:pt x="27940" y="2526030"/>
                  </a:lnTo>
                  <a:lnTo>
                    <a:pt x="0" y="2482850"/>
                  </a:lnTo>
                  <a:lnTo>
                    <a:pt x="27940" y="16510"/>
                  </a:lnTo>
                  <a:lnTo>
                    <a:pt x="1800860" y="0"/>
                  </a:lnTo>
                  <a:lnTo>
                    <a:pt x="1823720" y="41910"/>
                  </a:lnTo>
                  <a:close/>
                </a:path>
              </a:pathLst>
            </a:custGeom>
            <a:solidFill>
              <a:srgbClr val="EDC254"/>
            </a:solidFill>
            <a:ln>
              <a:noFill/>
            </a:ln>
          </p:spPr>
        </p:sp>
        <p:sp>
          <p:nvSpPr>
            <p:cNvPr id="300" name="Google Shape;300;p12"/>
            <p:cNvSpPr/>
            <p:nvPr/>
          </p:nvSpPr>
          <p:spPr>
            <a:xfrm>
              <a:off x="0" y="0"/>
              <a:ext cx="1821180" cy="2509520"/>
            </a:xfrm>
            <a:custGeom>
              <a:rect b="b" l="l" r="r" t="t"/>
              <a:pathLst>
                <a:path extrusionOk="0" h="2509520" w="1821180">
                  <a:moveTo>
                    <a:pt x="0" y="0"/>
                  </a:moveTo>
                  <a:lnTo>
                    <a:pt x="1821180" y="0"/>
                  </a:lnTo>
                  <a:lnTo>
                    <a:pt x="1821180" y="2509520"/>
                  </a:lnTo>
                  <a:lnTo>
                    <a:pt x="0" y="2509520"/>
                  </a:lnTo>
                  <a:close/>
                </a:path>
              </a:pathLst>
            </a:custGeom>
            <a:solidFill>
              <a:srgbClr val="EDC254"/>
            </a:solidFill>
            <a:ln>
              <a:noFill/>
            </a:ln>
          </p:spPr>
        </p:sp>
        <p:sp>
          <p:nvSpPr>
            <p:cNvPr id="301" name="Google Shape;301;p12"/>
            <p:cNvSpPr/>
            <p:nvPr/>
          </p:nvSpPr>
          <p:spPr>
            <a:xfrm flipH="1">
              <a:off x="123190" y="52070"/>
              <a:ext cx="1642110" cy="2405380"/>
            </a:xfrm>
            <a:custGeom>
              <a:rect b="b" l="l" r="r" t="t"/>
              <a:pathLst>
                <a:path extrusionOk="0" h="2405380" w="1642110">
                  <a:moveTo>
                    <a:pt x="1642110" y="0"/>
                  </a:moveTo>
                  <a:lnTo>
                    <a:pt x="0" y="0"/>
                  </a:lnTo>
                  <a:lnTo>
                    <a:pt x="0" y="2405380"/>
                  </a:lnTo>
                  <a:lnTo>
                    <a:pt x="1642110" y="2405380"/>
                  </a:lnTo>
                  <a:close/>
                </a:path>
              </a:pathLst>
            </a:custGeom>
            <a:blipFill rotWithShape="1">
              <a:blip r:embed="rId3">
                <a:alphaModFix/>
              </a:blip>
              <a:stretch>
                <a:fillRect b="0" l="-59856" r="-59856" t="0"/>
              </a:stretch>
            </a:blipFill>
            <a:ln>
              <a:noFill/>
            </a:ln>
          </p:spPr>
        </p:sp>
        <p:sp>
          <p:nvSpPr>
            <p:cNvPr id="302" name="Google Shape;302;p12"/>
            <p:cNvSpPr/>
            <p:nvPr/>
          </p:nvSpPr>
          <p:spPr>
            <a:xfrm>
              <a:off x="38100" y="0"/>
              <a:ext cx="24130" cy="2509520"/>
            </a:xfrm>
            <a:custGeom>
              <a:rect b="b" l="l" r="r" t="t"/>
              <a:pathLst>
                <a:path extrusionOk="0" h="2509520" w="24130">
                  <a:moveTo>
                    <a:pt x="0" y="0"/>
                  </a:moveTo>
                  <a:lnTo>
                    <a:pt x="24130" y="0"/>
                  </a:lnTo>
                  <a:lnTo>
                    <a:pt x="24130" y="2509520"/>
                  </a:lnTo>
                  <a:lnTo>
                    <a:pt x="0" y="2509520"/>
                  </a:lnTo>
                  <a:close/>
                </a:path>
              </a:pathLst>
            </a:custGeom>
            <a:solidFill>
              <a:srgbClr val="DBDBDB"/>
            </a:solidFill>
            <a:ln>
              <a:noFill/>
            </a:ln>
          </p:spPr>
        </p:sp>
      </p:grpSp>
      <p:sp>
        <p:nvSpPr>
          <p:cNvPr id="303" name="Google Shape;303;p12"/>
          <p:cNvSpPr txBox="1"/>
          <p:nvPr/>
        </p:nvSpPr>
        <p:spPr>
          <a:xfrm>
            <a:off x="9718969" y="5739348"/>
            <a:ext cx="79800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572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Smart Contracts dev &amp; depoyment</a:t>
            </a:r>
            <a:endParaRPr/>
          </a:p>
          <a:p>
            <a:pPr indent="-4572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GIS mapping module </a:t>
            </a:r>
            <a:endParaRPr/>
          </a:p>
          <a:p>
            <a:pPr indent="-4572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50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pilot users onboarded from peri-urban zones</a:t>
            </a:r>
            <a:endParaRPr/>
          </a:p>
          <a:p>
            <a:pPr indent="-4572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Marketplace UI + dispute module </a:t>
            </a:r>
            <a:endParaRPr/>
          </a:p>
        </p:txBody>
      </p:sp>
      <p:pic>
        <p:nvPicPr>
          <p:cNvPr id="304" name="Google Shape;304;p12"/>
          <p:cNvPicPr preferRelativeResize="0"/>
          <p:nvPr/>
        </p:nvPicPr>
        <p:blipFill rotWithShape="1">
          <a:blip r:embed="rId4">
            <a:alphaModFix/>
          </a:blip>
          <a:srcRect b="17852" l="14339" r="13661" t="0"/>
          <a:stretch/>
        </p:blipFill>
        <p:spPr>
          <a:xfrm>
            <a:off x="16167304" y="-411806"/>
            <a:ext cx="1935500" cy="2208304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12"/>
          <p:cNvSpPr txBox="1"/>
          <p:nvPr/>
        </p:nvSpPr>
        <p:spPr>
          <a:xfrm>
            <a:off x="9991925" y="780700"/>
            <a:ext cx="4768500" cy="1770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44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09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Ask</a:t>
            </a:r>
            <a:endParaRPr sz="6300">
              <a:solidFill>
                <a:srgbClr val="00B050"/>
              </a:solidFill>
            </a:endParaRPr>
          </a:p>
        </p:txBody>
      </p:sp>
      <p:sp>
        <p:nvSpPr>
          <p:cNvPr id="306" name="Google Shape;306;p12"/>
          <p:cNvSpPr txBox="1"/>
          <p:nvPr/>
        </p:nvSpPr>
        <p:spPr>
          <a:xfrm>
            <a:off x="10632950" y="4077175"/>
            <a:ext cx="2630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448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0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$85k</a:t>
            </a:r>
            <a:endParaRPr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3"/>
          <p:cNvSpPr txBox="1"/>
          <p:nvPr/>
        </p:nvSpPr>
        <p:spPr>
          <a:xfrm>
            <a:off x="4077684" y="2745513"/>
            <a:ext cx="5447316" cy="1561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286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60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Thank</a:t>
            </a:r>
            <a:endParaRPr sz="8824">
              <a:solidFill>
                <a:srgbClr val="00B05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312" name="Google Shape;312;p13"/>
          <p:cNvSpPr txBox="1"/>
          <p:nvPr/>
        </p:nvSpPr>
        <p:spPr>
          <a:xfrm>
            <a:off x="9783686" y="2745513"/>
            <a:ext cx="4688690" cy="15619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86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96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You</a:t>
            </a:r>
            <a:endParaRPr sz="8824">
              <a:solidFill>
                <a:srgbClr val="FF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cxnSp>
        <p:nvCxnSpPr>
          <p:cNvPr id="313" name="Google Shape;313;p13"/>
          <p:cNvCxnSpPr/>
          <p:nvPr/>
        </p:nvCxnSpPr>
        <p:spPr>
          <a:xfrm>
            <a:off x="5389880" y="4227896"/>
            <a:ext cx="750824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14" name="Google Shape;314;p13"/>
          <p:cNvSpPr/>
          <p:nvPr/>
        </p:nvSpPr>
        <p:spPr>
          <a:xfrm>
            <a:off x="3238751" y="8466993"/>
            <a:ext cx="791307" cy="791307"/>
          </a:xfrm>
          <a:custGeom>
            <a:rect b="b" l="l" r="r" t="t"/>
            <a:pathLst>
              <a:path extrusionOk="0" h="791307" w="791307">
                <a:moveTo>
                  <a:pt x="0" y="0"/>
                </a:moveTo>
                <a:lnTo>
                  <a:pt x="791308" y="0"/>
                </a:lnTo>
                <a:lnTo>
                  <a:pt x="791308" y="791307"/>
                </a:lnTo>
                <a:lnTo>
                  <a:pt x="0" y="7913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15" name="Google Shape;315;p13"/>
          <p:cNvSpPr/>
          <p:nvPr/>
        </p:nvSpPr>
        <p:spPr>
          <a:xfrm>
            <a:off x="8129172" y="8435964"/>
            <a:ext cx="793828" cy="793828"/>
          </a:xfrm>
          <a:custGeom>
            <a:rect b="b" l="l" r="r" t="t"/>
            <a:pathLst>
              <a:path extrusionOk="0" h="793828" w="793828">
                <a:moveTo>
                  <a:pt x="0" y="0"/>
                </a:moveTo>
                <a:lnTo>
                  <a:pt x="793828" y="0"/>
                </a:lnTo>
                <a:lnTo>
                  <a:pt x="793828" y="793829"/>
                </a:lnTo>
                <a:lnTo>
                  <a:pt x="0" y="7938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16" name="Google Shape;316;p13"/>
          <p:cNvGrpSpPr/>
          <p:nvPr/>
        </p:nvGrpSpPr>
        <p:grpSpPr>
          <a:xfrm>
            <a:off x="-495300" y="-180826"/>
            <a:ext cx="1028700" cy="4416342"/>
            <a:chOff x="0" y="-47625"/>
            <a:chExt cx="270933" cy="1163152"/>
          </a:xfrm>
        </p:grpSpPr>
        <p:sp>
          <p:nvSpPr>
            <p:cNvPr id="317" name="Google Shape;317;p13"/>
            <p:cNvSpPr/>
            <p:nvPr/>
          </p:nvSpPr>
          <p:spPr>
            <a:xfrm>
              <a:off x="0" y="0"/>
              <a:ext cx="270933" cy="1115527"/>
            </a:xfrm>
            <a:custGeom>
              <a:rect b="b" l="l" r="r" t="t"/>
              <a:pathLst>
                <a:path extrusionOk="0" h="1115527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1115527"/>
                  </a:lnTo>
                  <a:lnTo>
                    <a:pt x="0" y="1115527"/>
                  </a:lnTo>
                  <a:close/>
                </a:path>
              </a:pathLst>
            </a:custGeom>
            <a:solidFill>
              <a:srgbClr val="EFEF89"/>
            </a:solidFill>
            <a:ln>
              <a:noFill/>
            </a:ln>
          </p:spPr>
        </p:sp>
        <p:sp>
          <p:nvSpPr>
            <p:cNvPr id="318" name="Google Shape;318;p13"/>
            <p:cNvSpPr txBox="1"/>
            <p:nvPr/>
          </p:nvSpPr>
          <p:spPr>
            <a:xfrm>
              <a:off x="0" y="-47625"/>
              <a:ext cx="270933" cy="1163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9" name="Google Shape;319;p13"/>
          <p:cNvSpPr txBox="1"/>
          <p:nvPr/>
        </p:nvSpPr>
        <p:spPr>
          <a:xfrm>
            <a:off x="4909585" y="4673821"/>
            <a:ext cx="8468830" cy="38155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"Securing </a:t>
            </a:r>
            <a:r>
              <a:rPr lang="en-US" sz="2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Africa's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land, one deed at a time.“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Connect with us:</a:t>
            </a:r>
            <a:b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chaintechhub.com/landguard</a:t>
            </a:r>
            <a:b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github.com/Chain-Tech-Hub</a:t>
            </a:r>
            <a:b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Partner with us to unlock land justice for millions.</a:t>
            </a:r>
            <a:endParaRPr sz="3600">
              <a:solidFill>
                <a:srgbClr val="2A0947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320" name="Google Shape;320;p13"/>
          <p:cNvSpPr txBox="1"/>
          <p:nvPr/>
        </p:nvSpPr>
        <p:spPr>
          <a:xfrm>
            <a:off x="9206813" y="8499066"/>
            <a:ext cx="5842436" cy="57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hello@chaintechhub</a:t>
            </a:r>
            <a:r>
              <a:rPr lang="en-US" sz="3452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.com</a:t>
            </a:r>
            <a:endParaRPr/>
          </a:p>
        </p:txBody>
      </p:sp>
      <p:sp>
        <p:nvSpPr>
          <p:cNvPr id="321" name="Google Shape;321;p13"/>
          <p:cNvSpPr txBox="1"/>
          <p:nvPr/>
        </p:nvSpPr>
        <p:spPr>
          <a:xfrm>
            <a:off x="4397865" y="8546551"/>
            <a:ext cx="3645005" cy="57233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2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r>
              <a:rPr lang="en-US" sz="345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265</a:t>
            </a:r>
            <a:r>
              <a:rPr lang="en-US" sz="3452" u="non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-888-001-347</a:t>
            </a:r>
            <a:endParaRPr sz="3452" u="non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22" name="Google Shape;322;p13"/>
          <p:cNvGrpSpPr/>
          <p:nvPr/>
        </p:nvGrpSpPr>
        <p:grpSpPr>
          <a:xfrm>
            <a:off x="-495300" y="4484157"/>
            <a:ext cx="1028700" cy="1229733"/>
            <a:chOff x="0" y="-47625"/>
            <a:chExt cx="270933" cy="323880"/>
          </a:xfrm>
        </p:grpSpPr>
        <p:sp>
          <p:nvSpPr>
            <p:cNvPr id="323" name="Google Shape;323;p13"/>
            <p:cNvSpPr/>
            <p:nvPr/>
          </p:nvSpPr>
          <p:spPr>
            <a:xfrm>
              <a:off x="0" y="0"/>
              <a:ext cx="270933" cy="276255"/>
            </a:xfrm>
            <a:custGeom>
              <a:rect b="b" l="l" r="r" t="t"/>
              <a:pathLst>
                <a:path extrusionOk="0" h="276255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6255"/>
                  </a:lnTo>
                  <a:lnTo>
                    <a:pt x="0" y="276255"/>
                  </a:lnTo>
                  <a:close/>
                </a:path>
              </a:pathLst>
            </a:custGeom>
            <a:solidFill>
              <a:srgbClr val="EFEF89"/>
            </a:solidFill>
            <a:ln>
              <a:noFill/>
            </a:ln>
          </p:spPr>
        </p:sp>
        <p:sp>
          <p:nvSpPr>
            <p:cNvPr id="324" name="Google Shape;324;p13"/>
            <p:cNvSpPr txBox="1"/>
            <p:nvPr/>
          </p:nvSpPr>
          <p:spPr>
            <a:xfrm>
              <a:off x="0" y="-47625"/>
              <a:ext cx="270933" cy="323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5" name="Google Shape;325;p13"/>
          <p:cNvGrpSpPr/>
          <p:nvPr/>
        </p:nvGrpSpPr>
        <p:grpSpPr>
          <a:xfrm rot="10800000">
            <a:off x="17754349" y="6051484"/>
            <a:ext cx="1028700" cy="4416342"/>
            <a:chOff x="0" y="-47625"/>
            <a:chExt cx="270933" cy="1163152"/>
          </a:xfrm>
        </p:grpSpPr>
        <p:sp>
          <p:nvSpPr>
            <p:cNvPr id="326" name="Google Shape;326;p13"/>
            <p:cNvSpPr/>
            <p:nvPr/>
          </p:nvSpPr>
          <p:spPr>
            <a:xfrm>
              <a:off x="0" y="0"/>
              <a:ext cx="270933" cy="1115527"/>
            </a:xfrm>
            <a:custGeom>
              <a:rect b="b" l="l" r="r" t="t"/>
              <a:pathLst>
                <a:path extrusionOk="0" h="1115527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1115527"/>
                  </a:lnTo>
                  <a:lnTo>
                    <a:pt x="0" y="1115527"/>
                  </a:lnTo>
                  <a:close/>
                </a:path>
              </a:pathLst>
            </a:custGeom>
            <a:solidFill>
              <a:srgbClr val="EFEF89"/>
            </a:solidFill>
            <a:ln>
              <a:noFill/>
            </a:ln>
          </p:spPr>
        </p:sp>
        <p:sp>
          <p:nvSpPr>
            <p:cNvPr id="327" name="Google Shape;327;p13"/>
            <p:cNvSpPr txBox="1"/>
            <p:nvPr/>
          </p:nvSpPr>
          <p:spPr>
            <a:xfrm>
              <a:off x="0" y="-47625"/>
              <a:ext cx="270933" cy="1163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28" name="Google Shape;328;p13"/>
          <p:cNvGrpSpPr/>
          <p:nvPr/>
        </p:nvGrpSpPr>
        <p:grpSpPr>
          <a:xfrm rot="10800000">
            <a:off x="17754349" y="4573111"/>
            <a:ext cx="1028700" cy="1229733"/>
            <a:chOff x="0" y="-47625"/>
            <a:chExt cx="270933" cy="323880"/>
          </a:xfrm>
        </p:grpSpPr>
        <p:sp>
          <p:nvSpPr>
            <p:cNvPr id="329" name="Google Shape;329;p13"/>
            <p:cNvSpPr/>
            <p:nvPr/>
          </p:nvSpPr>
          <p:spPr>
            <a:xfrm>
              <a:off x="0" y="0"/>
              <a:ext cx="270933" cy="276255"/>
            </a:xfrm>
            <a:custGeom>
              <a:rect b="b" l="l" r="r" t="t"/>
              <a:pathLst>
                <a:path extrusionOk="0" h="276255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6255"/>
                  </a:lnTo>
                  <a:lnTo>
                    <a:pt x="0" y="276255"/>
                  </a:lnTo>
                  <a:close/>
                </a:path>
              </a:pathLst>
            </a:custGeom>
            <a:solidFill>
              <a:srgbClr val="EFEF89"/>
            </a:solidFill>
            <a:ln>
              <a:noFill/>
            </a:ln>
          </p:spPr>
        </p:sp>
        <p:sp>
          <p:nvSpPr>
            <p:cNvPr id="330" name="Google Shape;330;p13"/>
            <p:cNvSpPr txBox="1"/>
            <p:nvPr/>
          </p:nvSpPr>
          <p:spPr>
            <a:xfrm>
              <a:off x="0" y="-47625"/>
              <a:ext cx="270933" cy="3238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1" name="Google Shape;331;p13"/>
          <p:cNvSpPr/>
          <p:nvPr/>
        </p:nvSpPr>
        <p:spPr>
          <a:xfrm>
            <a:off x="15380614" y="1028700"/>
            <a:ext cx="1878686" cy="469671"/>
          </a:xfrm>
          <a:custGeom>
            <a:rect b="b" l="l" r="r" t="t"/>
            <a:pathLst>
              <a:path extrusionOk="0" h="469671" w="1878686">
                <a:moveTo>
                  <a:pt x="0" y="0"/>
                </a:moveTo>
                <a:lnTo>
                  <a:pt x="1878686" y="0"/>
                </a:lnTo>
                <a:lnTo>
                  <a:pt x="1878686" y="469671"/>
                </a:lnTo>
                <a:lnTo>
                  <a:pt x="0" y="46967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 amt="69000"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332" name="Google Shape;332;p13"/>
          <p:cNvPicPr preferRelativeResize="0"/>
          <p:nvPr/>
        </p:nvPicPr>
        <p:blipFill rotWithShape="1">
          <a:blip r:embed="rId8">
            <a:alphaModFix/>
          </a:blip>
          <a:srcRect b="17852" l="14339" r="13661" t="0"/>
          <a:stretch/>
        </p:blipFill>
        <p:spPr>
          <a:xfrm>
            <a:off x="7208500" y="-788042"/>
            <a:ext cx="3429000" cy="39123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CHRIS MANGAN</dc:creator>
</cp:coreProperties>
</file>